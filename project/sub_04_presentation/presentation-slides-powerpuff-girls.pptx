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Movies</c:v>
                </c:pt>
              </c:strCache>
            </c:strRef>
          </c:tx>
          <c:spPr>
            <a:solidFill>
              <a:srgbClr val="E87B3E"/>
            </a:solidFill>
            <a:ln w="31750" cap="flat">
              <a:solidFill>
                <a:srgbClr val="E87B3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7B3E"/>
              </a:solidFill>
              <a:ln w="9525" cap="flat">
                <a:solidFill>
                  <a:srgbClr val="E87B3E"/>
                </a:solidFill>
                <a:prstDash val="solid"/>
                <a:round/>
              </a:ln>
              <a:effectLst/>
            </c:spPr>
          </c:marker>
          <c:cat>
            <c:multiLvlStrRef>
              <c:f>Sheet1!$A$2:$A$15</c:f>
              <c:multiLvlStrCache>
                <c:ptCount val="14"/>
                <c:lvl>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lvl>
              </c:multiLvlStrCache>
            </c:multiLvlStrRef>
          </c:cat>
          <c:val>
            <c:numRef>
              <c:f>Sheet1!$B$2:$B$15</c:f>
              <c:numCache>
                <c:formatCode>General</c:formatCode>
                <c:ptCount val="14"/>
                <c:pt idx="0">
                  <c:v>2</c:v>
                </c:pt>
                <c:pt idx="1">
                  <c:v>2</c:v>
                </c:pt>
                <c:pt idx="2">
                  <c:v>1</c:v>
                </c:pt>
                <c:pt idx="3">
                  <c:v>10</c:v>
                </c:pt>
                <c:pt idx="4">
                  <c:v>2</c:v>
                </c:pt>
                <c:pt idx="5">
                  <c:v>8</c:v>
                </c:pt>
                <c:pt idx="6">
                  <c:v>16</c:v>
                </c:pt>
                <c:pt idx="7">
                  <c:v>56</c:v>
                </c:pt>
                <c:pt idx="8">
                  <c:v>291</c:v>
                </c:pt>
                <c:pt idx="9">
                  <c:v>806</c:v>
                </c:pt>
                <c:pt idx="10">
                  <c:v>1144</c:v>
                </c:pt>
                <c:pt idx="11">
                  <c:v>1380</c:v>
                </c:pt>
                <c:pt idx="12">
                  <c:v>1297</c:v>
                </c:pt>
                <c:pt idx="13">
                  <c:v>1101</c:v>
                </c:pt>
              </c:numCache>
            </c:numRef>
          </c:val>
          <c:smooth val="0"/>
        </c:ser>
        <c:ser>
          <c:idx val="1"/>
          <c:order val="1"/>
          <c:tx>
            <c:strRef>
              <c:f>Sheet1!$C$1</c:f>
              <c:strCache>
                <c:ptCount val="1"/>
                <c:pt idx="0">
                  <c:v>TV Shows</c:v>
                </c:pt>
              </c:strCache>
            </c:strRef>
          </c:tx>
          <c:spPr>
            <a:solidFill>
              <a:srgbClr val="4A90D9"/>
            </a:solidFill>
            <a:ln w="31750" cap="flat">
              <a:solidFill>
                <a:srgbClr val="4A90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90D9"/>
              </a:solidFill>
              <a:ln w="9525" cap="flat">
                <a:solidFill>
                  <a:srgbClr val="4A90D9"/>
                </a:solidFill>
                <a:prstDash val="solid"/>
                <a:round/>
              </a:ln>
              <a:effectLst/>
            </c:spPr>
          </c:marker>
          <c:cat>
            <c:multiLvlStrRef>
              <c:f>Sheet1!$A$2:$A$15</c:f>
              <c:multiLvlStrCache>
                <c:ptCount val="14"/>
                <c:lvl>
                  <c:pt idx="0">
                    <c:v>2008</c:v>
                  </c:pt>
                  <c:pt idx="1">
                    <c:v>2009</c:v>
                  </c:pt>
                  <c:pt idx="2">
                    <c:v>2010</c:v>
                  </c:pt>
                  <c:pt idx="3">
                    <c:v>2011</c:v>
                  </c:pt>
                  <c:pt idx="4">
                    <c:v>2012</c:v>
                  </c:pt>
                  <c:pt idx="5">
                    <c:v>2013</c:v>
                  </c:pt>
                  <c:pt idx="6">
                    <c:v>2014</c:v>
                  </c:pt>
                  <c:pt idx="7">
                    <c:v>2015</c:v>
                  </c:pt>
                  <c:pt idx="8">
                    <c:v>2016</c:v>
                  </c:pt>
                  <c:pt idx="9">
                    <c:v>2017</c:v>
                  </c:pt>
                  <c:pt idx="10">
                    <c:v>2018</c:v>
                  </c:pt>
                  <c:pt idx="11">
                    <c:v>2019</c:v>
                  </c:pt>
                  <c:pt idx="12">
                    <c:v>2020</c:v>
                  </c:pt>
                  <c:pt idx="13">
                    <c:v>2021</c:v>
                  </c:pt>
                </c:lvl>
              </c:multiLvlStrCache>
            </c:multiLvlStrRef>
          </c:cat>
          <c:val>
            <c:numRef>
              <c:f>Sheet1!$C$2:$C$15</c:f>
              <c:numCache>
                <c:formatCode>General</c:formatCode>
                <c:ptCount val="14"/>
                <c:pt idx="0">
                  <c:v>0</c:v>
                </c:pt>
                <c:pt idx="1">
                  <c:v>0</c:v>
                </c:pt>
                <c:pt idx="2">
                  <c:v>0</c:v>
                </c:pt>
                <c:pt idx="3">
                  <c:v>3</c:v>
                </c:pt>
                <c:pt idx="4">
                  <c:v>1</c:v>
                </c:pt>
                <c:pt idx="5">
                  <c:v>3</c:v>
                </c:pt>
                <c:pt idx="6">
                  <c:v>8</c:v>
                </c:pt>
                <c:pt idx="7">
                  <c:v>26</c:v>
                </c:pt>
                <c:pt idx="8">
                  <c:v>138</c:v>
                </c:pt>
                <c:pt idx="9">
                  <c:v>382</c:v>
                </c:pt>
                <c:pt idx="10">
                  <c:v>505</c:v>
                </c:pt>
                <c:pt idx="11">
                  <c:v>636</c:v>
                </c:pt>
                <c:pt idx="12">
                  <c:v>582</c:v>
                </c:pt>
                <c:pt idx="13">
                  <c:v>397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present our visualization project on Netflix content data. We are team Powerpuff Girls from JKU Linz.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comes from Kaggle -- it covers all Netflix titles available up to 2021 with 8,807 entries and 12 attributes including type, genre, country, date added and release year. This gives us rich metadata to explore content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explored four hypotheses in total -- two simple and two complex. The simple ones confirmed basic platform characteristics. The complex ones dug deeper into genre and geographic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hypothesis is confirmed. Nearly 70% of Netflix's catalog is movies -- a clear 2.3 to 1 ratio. This baseline is important because it means TV shows are underrepresented and should always be analysed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shows dramatic growth from near-zero additions before 2014 to over 2,000 titles per year by 2019. The 2020 dip is likely due to pandemic-related production delays. The Netflix Effect is clearly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grouped bar chart shows genre share normalised within each content type. The key insight is that while Drama, Comedy and International dominate both, many genres are exclusive to one medium. Crime and Reality TV are TV-only; Stand-Up Comedy and Independent films are Movie-only. Hypothesis B.1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shows TV show share percentage per country per year. South Korea and Japan are consistently blue -- over 74% TV. The US and India stay red, under 32%. Most countries trend toward more TV Shows after 2019, confirming that BOTH cultural origin and time period shape the type of content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black-hat visualization, we used the classic truncated y-axis trick. Starting the axis at 700 makes India look almost as large as the US, hiding the actual 3:1 difference. The misleading title reinforces the deception. The fix is trivial -- just start at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Netflix is primarily a movie platform but shifting toward TV. Content growth was explosive between 2014 and 2019. Genre and format are strongly linked. And geography is a strong predictor of content type.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50914"/>
          </a:solidFill>
          <a:ln w="12700">
            <a:solidFill>
              <a:srgbClr val="E50914"/>
            </a:solidFill>
            <a:prstDash val="solid"/>
          </a:ln>
        </p:spPr>
      </p:sp>
      <p:sp>
        <p:nvSpPr>
          <p:cNvPr id="3" name="Text 1"/>
          <p:cNvSpPr/>
          <p:nvPr/>
        </p:nvSpPr>
        <p:spPr>
          <a:xfrm>
            <a:off x="548640" y="1097280"/>
            <a:ext cx="8046720" cy="100584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Netflix Content Analysis</a:t>
            </a:r>
            <a:endParaRPr lang="en-US" sz="4000" dirty="0"/>
          </a:p>
        </p:txBody>
      </p:sp>
      <p:sp>
        <p:nvSpPr>
          <p:cNvPr id="4" name="Text 2"/>
          <p:cNvSpPr/>
          <p:nvPr/>
        </p:nvSpPr>
        <p:spPr>
          <a:xfrm>
            <a:off x="548640" y="2194560"/>
            <a:ext cx="8046720" cy="548640"/>
          </a:xfrm>
          <a:prstGeom prst="rect">
            <a:avLst/>
          </a:prstGeom>
          <a:noFill/>
          <a:ln/>
        </p:spPr>
        <p:txBody>
          <a:bodyPr wrap="square" rtlCol="0" anchor="ctr"/>
          <a:lstStyle/>
          <a:p>
            <a:pPr algn="ctr" indent="0" marL="0">
              <a:buNone/>
            </a:pPr>
            <a:r>
              <a:rPr lang="en-US" sz="1800" dirty="0">
                <a:solidFill>
                  <a:srgbClr val="B0B0B0"/>
                </a:solidFill>
                <a:latin typeface="Calibri" pitchFamily="34" charset="0"/>
                <a:ea typeface="Calibri" pitchFamily="34" charset="-122"/>
                <a:cs typeface="Calibri" pitchFamily="34" charset="-120"/>
              </a:rPr>
              <a:t>Exploring Genre, Geography, and Temporal Trends</a:t>
            </a:r>
            <a:endParaRPr lang="en-US" sz="1800" dirty="0"/>
          </a:p>
        </p:txBody>
      </p:sp>
      <p:sp>
        <p:nvSpPr>
          <p:cNvPr id="5" name="Shape 3"/>
          <p:cNvSpPr/>
          <p:nvPr/>
        </p:nvSpPr>
        <p:spPr>
          <a:xfrm>
            <a:off x="3200400" y="2880360"/>
            <a:ext cx="2743200" cy="36576"/>
          </a:xfrm>
          <a:prstGeom prst="rect">
            <a:avLst/>
          </a:prstGeom>
          <a:solidFill>
            <a:srgbClr val="E50914"/>
          </a:solidFill>
          <a:ln w="12700">
            <a:solidFill>
              <a:srgbClr val="E50914"/>
            </a:solidFill>
            <a:prstDash val="solid"/>
          </a:ln>
        </p:spPr>
      </p:sp>
      <p:sp>
        <p:nvSpPr>
          <p:cNvPr id="6" name="Text 4"/>
          <p:cNvSpPr/>
          <p:nvPr/>
        </p:nvSpPr>
        <p:spPr>
          <a:xfrm>
            <a:off x="548640" y="3063240"/>
            <a:ext cx="8046720" cy="411480"/>
          </a:xfrm>
          <a:prstGeom prst="rect">
            <a:avLst/>
          </a:prstGeom>
          <a:noFill/>
          <a:ln/>
        </p:spPr>
        <p:txBody>
          <a:bodyPr wrap="square" rtlCol="0" anchor="ctr"/>
          <a:lstStyle/>
          <a:p>
            <a:pPr algn="ctr" indent="0" marL="0">
              <a:buNone/>
            </a:pPr>
            <a:r>
              <a:rPr lang="en-US" sz="1300" dirty="0">
                <a:solidFill>
                  <a:srgbClr val="CCCCCC"/>
                </a:solidFill>
                <a:latin typeface="Calibri" pitchFamily="34" charset="0"/>
                <a:ea typeface="Calibri" pitchFamily="34" charset="-122"/>
                <a:cs typeface="Calibri" pitchFamily="34" charset="-120"/>
              </a:rPr>
              <a:t>Team Powerpuff Girls  *  Visualization Lab SS26  *  JKU Linz</a:t>
            </a:r>
            <a:endParaRPr lang="en-US" sz="1300" dirty="0"/>
          </a:p>
        </p:txBody>
      </p:sp>
      <p:sp>
        <p:nvSpPr>
          <p:cNvPr id="7" name="Text 5"/>
          <p:cNvSpPr/>
          <p:nvPr/>
        </p:nvSpPr>
        <p:spPr>
          <a:xfrm>
            <a:off x="548640" y="3520440"/>
            <a:ext cx="8046720" cy="365760"/>
          </a:xfrm>
          <a:prstGeom prst="rect">
            <a:avLst/>
          </a:prstGeom>
          <a:noFill/>
          <a:ln/>
        </p:spPr>
        <p:txBody>
          <a:bodyPr wrap="square" rtlCol="0" anchor="ctr"/>
          <a:lstStyle/>
          <a:p>
            <a:pPr algn="ctr" indent="0" marL="0">
              <a:buNone/>
            </a:pPr>
            <a:r>
              <a:rPr lang="en-US" sz="1200" dirty="0">
                <a:solidFill>
                  <a:srgbClr val="AAAAAA"/>
                </a:solidFill>
                <a:latin typeface="Calibri" pitchFamily="34" charset="0"/>
                <a:ea typeface="Calibri" pitchFamily="34" charset="-122"/>
                <a:cs typeface="Calibri" pitchFamily="34" charset="-120"/>
              </a:rPr>
              <a:t>Elmedin Zukic  *  Egzona Gashi  *  Saba Zia Naserani</a:t>
            </a:r>
            <a:endParaRPr lang="en-US" sz="1200" dirty="0"/>
          </a:p>
        </p:txBody>
      </p:sp>
      <p:sp>
        <p:nvSpPr>
          <p:cNvPr id="8" name="Shape 6"/>
          <p:cNvSpPr/>
          <p:nvPr/>
        </p:nvSpPr>
        <p:spPr>
          <a:xfrm>
            <a:off x="0" y="5079492"/>
            <a:ext cx="9144000" cy="64008"/>
          </a:xfrm>
          <a:prstGeom prst="rect">
            <a:avLst/>
          </a:prstGeom>
          <a:solidFill>
            <a:srgbClr val="E50914"/>
          </a:solidFill>
          <a:ln w="12700">
            <a:solidFill>
              <a:srgbClr val="E5091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15789"/>
            </a:avLst>
          </a:prstGeom>
          <a:solidFill>
            <a:srgbClr val="E50914"/>
          </a:solidFill>
          <a:ln w="12700">
            <a:solidFill>
              <a:srgbClr val="E50914"/>
            </a:solidFill>
            <a:prstDash val="solid"/>
          </a:ln>
        </p:spPr>
      </p:sp>
      <p:sp>
        <p:nvSpPr>
          <p:cNvPr id="3" name="Text 1"/>
          <p:cNvSpPr/>
          <p:nvPr/>
        </p:nvSpPr>
        <p:spPr>
          <a:xfrm>
            <a:off x="457200" y="320040"/>
            <a:ext cx="14630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p>
        </p:txBody>
      </p:sp>
      <p:sp>
        <p:nvSpPr>
          <p:cNvPr id="4" name="Text 2"/>
          <p:cNvSpPr/>
          <p:nvPr/>
        </p:nvSpPr>
        <p:spPr>
          <a:xfrm>
            <a:off x="457200" y="777240"/>
            <a:ext cx="8229600" cy="594360"/>
          </a:xfrm>
          <a:prstGeom prst="rect">
            <a:avLst/>
          </a:prstGeom>
          <a:noFill/>
          <a:ln/>
        </p:spPr>
        <p:txBody>
          <a:bodyPr wrap="square"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Netflix Titles Dataset</a:t>
            </a:r>
            <a:endParaRPr lang="en-US" sz="2800" dirty="0"/>
          </a:p>
        </p:txBody>
      </p:sp>
      <p:sp>
        <p:nvSpPr>
          <p:cNvPr id="5" name="Shape 3"/>
          <p:cNvSpPr/>
          <p:nvPr/>
        </p:nvSpPr>
        <p:spPr>
          <a:xfrm>
            <a:off x="457200" y="1508760"/>
            <a:ext cx="2560320" cy="1371600"/>
          </a:xfrm>
          <a:prstGeom prst="roundRect">
            <a:avLst>
              <a:gd name="adj" fmla="val 6667"/>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457200" y="1572768"/>
            <a:ext cx="2560320" cy="640080"/>
          </a:xfrm>
          <a:prstGeom prst="rect">
            <a:avLst/>
          </a:prstGeom>
          <a:noFill/>
          <a:ln/>
        </p:spPr>
        <p:txBody>
          <a:bodyPr wrap="square" rtlCol="0" anchor="ctr"/>
          <a:lstStyle/>
          <a:p>
            <a:pPr algn="ctr" indent="0" marL="0">
              <a:buNone/>
            </a:pPr>
            <a:r>
              <a:rPr lang="en-US" sz="3000" b="1" dirty="0">
                <a:solidFill>
                  <a:srgbClr val="E50914"/>
                </a:solidFill>
                <a:latin typeface="Calibri" pitchFamily="34" charset="0"/>
                <a:ea typeface="Calibri" pitchFamily="34" charset="-122"/>
                <a:cs typeface="Calibri" pitchFamily="34" charset="-120"/>
              </a:rPr>
              <a:t>8,807</a:t>
            </a:r>
            <a:endParaRPr lang="en-US" sz="3000" dirty="0"/>
          </a:p>
        </p:txBody>
      </p:sp>
      <p:sp>
        <p:nvSpPr>
          <p:cNvPr id="7" name="Text 5"/>
          <p:cNvSpPr/>
          <p:nvPr/>
        </p:nvSpPr>
        <p:spPr>
          <a:xfrm>
            <a:off x="457200" y="2240280"/>
            <a:ext cx="2560320" cy="292608"/>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Total Titles</a:t>
            </a:r>
            <a:endParaRPr lang="en-US" sz="1300" dirty="0"/>
          </a:p>
        </p:txBody>
      </p:sp>
      <p:sp>
        <p:nvSpPr>
          <p:cNvPr id="8" name="Text 6"/>
          <p:cNvSpPr/>
          <p:nvPr/>
        </p:nvSpPr>
        <p:spPr>
          <a:xfrm>
            <a:off x="457200" y="2542032"/>
            <a:ext cx="256032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movies + TV shows</a:t>
            </a:r>
            <a:endParaRPr lang="en-US" sz="1000" dirty="0"/>
          </a:p>
        </p:txBody>
      </p:sp>
      <p:sp>
        <p:nvSpPr>
          <p:cNvPr id="9" name="Shape 7"/>
          <p:cNvSpPr/>
          <p:nvPr/>
        </p:nvSpPr>
        <p:spPr>
          <a:xfrm>
            <a:off x="3291840" y="1508760"/>
            <a:ext cx="2560320" cy="1371600"/>
          </a:xfrm>
          <a:prstGeom prst="roundRect">
            <a:avLst>
              <a:gd name="adj" fmla="val 6667"/>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3291840" y="1572768"/>
            <a:ext cx="2560320" cy="640080"/>
          </a:xfrm>
          <a:prstGeom prst="rect">
            <a:avLst/>
          </a:prstGeom>
          <a:noFill/>
          <a:ln/>
        </p:spPr>
        <p:txBody>
          <a:bodyPr wrap="square" rtlCol="0" anchor="ctr"/>
          <a:lstStyle/>
          <a:p>
            <a:pPr algn="ctr" indent="0" marL="0">
              <a:buNone/>
            </a:pPr>
            <a:r>
              <a:rPr lang="en-US" sz="3000" b="1" dirty="0">
                <a:solidFill>
                  <a:srgbClr val="E50914"/>
                </a:solidFill>
                <a:latin typeface="Calibri" pitchFamily="34" charset="0"/>
                <a:ea typeface="Calibri" pitchFamily="34" charset="-122"/>
                <a:cs typeface="Calibri" pitchFamily="34" charset="-120"/>
              </a:rPr>
              <a:t>12</a:t>
            </a:r>
            <a:endParaRPr lang="en-US" sz="3000" dirty="0"/>
          </a:p>
        </p:txBody>
      </p:sp>
      <p:sp>
        <p:nvSpPr>
          <p:cNvPr id="11" name="Text 9"/>
          <p:cNvSpPr/>
          <p:nvPr/>
        </p:nvSpPr>
        <p:spPr>
          <a:xfrm>
            <a:off x="3291840" y="2240280"/>
            <a:ext cx="2560320" cy="292608"/>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Attributes</a:t>
            </a:r>
            <a:endParaRPr lang="en-US" sz="1300" dirty="0"/>
          </a:p>
        </p:txBody>
      </p:sp>
      <p:sp>
        <p:nvSpPr>
          <p:cNvPr id="12" name="Text 10"/>
          <p:cNvSpPr/>
          <p:nvPr/>
        </p:nvSpPr>
        <p:spPr>
          <a:xfrm>
            <a:off x="3291840" y="2542032"/>
            <a:ext cx="256032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per title</a:t>
            </a:r>
            <a:endParaRPr lang="en-US" sz="1000" dirty="0"/>
          </a:p>
        </p:txBody>
      </p:sp>
      <p:sp>
        <p:nvSpPr>
          <p:cNvPr id="13" name="Shape 11"/>
          <p:cNvSpPr/>
          <p:nvPr/>
        </p:nvSpPr>
        <p:spPr>
          <a:xfrm>
            <a:off x="6126480" y="1508760"/>
            <a:ext cx="2560320" cy="1371600"/>
          </a:xfrm>
          <a:prstGeom prst="roundRect">
            <a:avLst>
              <a:gd name="adj" fmla="val 6667"/>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6126480" y="1572768"/>
            <a:ext cx="2560320" cy="640080"/>
          </a:xfrm>
          <a:prstGeom prst="rect">
            <a:avLst/>
          </a:prstGeom>
          <a:noFill/>
          <a:ln/>
        </p:spPr>
        <p:txBody>
          <a:bodyPr wrap="square" rtlCol="0" anchor="ctr"/>
          <a:lstStyle/>
          <a:p>
            <a:pPr algn="ctr" indent="0" marL="0">
              <a:buNone/>
            </a:pPr>
            <a:r>
              <a:rPr lang="en-US" sz="3000" b="1" dirty="0">
                <a:solidFill>
                  <a:srgbClr val="E50914"/>
                </a:solidFill>
                <a:latin typeface="Calibri" pitchFamily="34" charset="0"/>
                <a:ea typeface="Calibri" pitchFamily="34" charset="-122"/>
                <a:cs typeface="Calibri" pitchFamily="34" charset="-120"/>
              </a:rPr>
              <a:t>2021</a:t>
            </a:r>
            <a:endParaRPr lang="en-US" sz="3000" dirty="0"/>
          </a:p>
        </p:txBody>
      </p:sp>
      <p:sp>
        <p:nvSpPr>
          <p:cNvPr id="15" name="Text 13"/>
          <p:cNvSpPr/>
          <p:nvPr/>
        </p:nvSpPr>
        <p:spPr>
          <a:xfrm>
            <a:off x="6126480" y="2240280"/>
            <a:ext cx="2560320" cy="292608"/>
          </a:xfrm>
          <a:prstGeom prst="rect">
            <a:avLst/>
          </a:prstGeom>
          <a:noFill/>
          <a:ln/>
        </p:spPr>
        <p:txBody>
          <a:bodyPr wrap="square" rtlCol="0" anchor="ctr"/>
          <a:lstStyle/>
          <a:p>
            <a:pPr algn="ctr" indent="0" marL="0">
              <a:buNone/>
            </a:pPr>
            <a:r>
              <a:rPr lang="en-US" sz="1300" b="1" dirty="0">
                <a:solidFill>
                  <a:srgbClr val="1A1A2E"/>
                </a:solidFill>
                <a:latin typeface="Calibri" pitchFamily="34" charset="0"/>
                <a:ea typeface="Calibri" pitchFamily="34" charset="-122"/>
                <a:cs typeface="Calibri" pitchFamily="34" charset="-120"/>
              </a:rPr>
              <a:t>Coverage</a:t>
            </a:r>
            <a:endParaRPr lang="en-US" sz="1300" dirty="0"/>
          </a:p>
        </p:txBody>
      </p:sp>
      <p:sp>
        <p:nvSpPr>
          <p:cNvPr id="16" name="Text 14"/>
          <p:cNvSpPr/>
          <p:nvPr/>
        </p:nvSpPr>
        <p:spPr>
          <a:xfrm>
            <a:off x="6126480" y="2542032"/>
            <a:ext cx="256032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up to this year</a:t>
            </a:r>
            <a:endParaRPr lang="en-US" sz="1000" dirty="0"/>
          </a:p>
        </p:txBody>
      </p:sp>
      <p:sp>
        <p:nvSpPr>
          <p:cNvPr id="17" name="Text 15"/>
          <p:cNvSpPr/>
          <p:nvPr/>
        </p:nvSpPr>
        <p:spPr>
          <a:xfrm>
            <a:off x="457200" y="3063240"/>
            <a:ext cx="8229600" cy="320040"/>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Key attributes</a:t>
            </a:r>
            <a:endParaRPr lang="en-US" sz="1300" dirty="0"/>
          </a:p>
        </p:txBody>
      </p:sp>
      <p:sp>
        <p:nvSpPr>
          <p:cNvPr id="18" name="Shape 16"/>
          <p:cNvSpPr/>
          <p:nvPr/>
        </p:nvSpPr>
        <p:spPr>
          <a:xfrm>
            <a:off x="457200" y="3456432"/>
            <a:ext cx="1572768" cy="347472"/>
          </a:xfrm>
          <a:prstGeom prst="roundRect">
            <a:avLst>
              <a:gd name="adj" fmla="val 15789"/>
            </a:avLst>
          </a:prstGeom>
          <a:solidFill>
            <a:srgbClr val="EEF2FF"/>
          </a:solidFill>
          <a:ln w="12700">
            <a:solidFill>
              <a:srgbClr val="C7D2FE"/>
            </a:solidFill>
            <a:prstDash val="solid"/>
          </a:ln>
        </p:spPr>
      </p:sp>
      <p:sp>
        <p:nvSpPr>
          <p:cNvPr id="19" name="Text 17"/>
          <p:cNvSpPr/>
          <p:nvPr/>
        </p:nvSpPr>
        <p:spPr>
          <a:xfrm>
            <a:off x="457200" y="3456432"/>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Title</a:t>
            </a:r>
            <a:endParaRPr lang="en-US" sz="1000" dirty="0"/>
          </a:p>
        </p:txBody>
      </p:sp>
      <p:sp>
        <p:nvSpPr>
          <p:cNvPr id="20" name="Shape 18"/>
          <p:cNvSpPr/>
          <p:nvPr/>
        </p:nvSpPr>
        <p:spPr>
          <a:xfrm>
            <a:off x="2121408" y="3456432"/>
            <a:ext cx="1572768" cy="347472"/>
          </a:xfrm>
          <a:prstGeom prst="roundRect">
            <a:avLst>
              <a:gd name="adj" fmla="val 15789"/>
            </a:avLst>
          </a:prstGeom>
          <a:solidFill>
            <a:srgbClr val="EEF2FF"/>
          </a:solidFill>
          <a:ln w="12700">
            <a:solidFill>
              <a:srgbClr val="C7D2FE"/>
            </a:solidFill>
            <a:prstDash val="solid"/>
          </a:ln>
        </p:spPr>
      </p:sp>
      <p:sp>
        <p:nvSpPr>
          <p:cNvPr id="21" name="Text 19"/>
          <p:cNvSpPr/>
          <p:nvPr/>
        </p:nvSpPr>
        <p:spPr>
          <a:xfrm>
            <a:off x="2121408" y="3456432"/>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Type</a:t>
            </a:r>
            <a:endParaRPr lang="en-US" sz="1000" dirty="0"/>
          </a:p>
        </p:txBody>
      </p:sp>
      <p:sp>
        <p:nvSpPr>
          <p:cNvPr id="22" name="Shape 20"/>
          <p:cNvSpPr/>
          <p:nvPr/>
        </p:nvSpPr>
        <p:spPr>
          <a:xfrm>
            <a:off x="3785616" y="3456432"/>
            <a:ext cx="1572768" cy="347472"/>
          </a:xfrm>
          <a:prstGeom prst="roundRect">
            <a:avLst>
              <a:gd name="adj" fmla="val 15789"/>
            </a:avLst>
          </a:prstGeom>
          <a:solidFill>
            <a:srgbClr val="EEF2FF"/>
          </a:solidFill>
          <a:ln w="12700">
            <a:solidFill>
              <a:srgbClr val="C7D2FE"/>
            </a:solidFill>
            <a:prstDash val="solid"/>
          </a:ln>
        </p:spPr>
      </p:sp>
      <p:sp>
        <p:nvSpPr>
          <p:cNvPr id="23" name="Text 21"/>
          <p:cNvSpPr/>
          <p:nvPr/>
        </p:nvSpPr>
        <p:spPr>
          <a:xfrm>
            <a:off x="3785616" y="3456432"/>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Director</a:t>
            </a:r>
            <a:endParaRPr lang="en-US" sz="1000" dirty="0"/>
          </a:p>
        </p:txBody>
      </p:sp>
      <p:sp>
        <p:nvSpPr>
          <p:cNvPr id="24" name="Shape 22"/>
          <p:cNvSpPr/>
          <p:nvPr/>
        </p:nvSpPr>
        <p:spPr>
          <a:xfrm>
            <a:off x="5449824" y="3456432"/>
            <a:ext cx="1572768" cy="347472"/>
          </a:xfrm>
          <a:prstGeom prst="roundRect">
            <a:avLst>
              <a:gd name="adj" fmla="val 15789"/>
            </a:avLst>
          </a:prstGeom>
          <a:solidFill>
            <a:srgbClr val="EEF2FF"/>
          </a:solidFill>
          <a:ln w="12700">
            <a:solidFill>
              <a:srgbClr val="C7D2FE"/>
            </a:solidFill>
            <a:prstDash val="solid"/>
          </a:ln>
        </p:spPr>
      </p:sp>
      <p:sp>
        <p:nvSpPr>
          <p:cNvPr id="25" name="Text 23"/>
          <p:cNvSpPr/>
          <p:nvPr/>
        </p:nvSpPr>
        <p:spPr>
          <a:xfrm>
            <a:off x="5449824" y="3456432"/>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Cast</a:t>
            </a:r>
            <a:endParaRPr lang="en-US" sz="1000" dirty="0"/>
          </a:p>
        </p:txBody>
      </p:sp>
      <p:sp>
        <p:nvSpPr>
          <p:cNvPr id="26" name="Shape 24"/>
          <p:cNvSpPr/>
          <p:nvPr/>
        </p:nvSpPr>
        <p:spPr>
          <a:xfrm>
            <a:off x="7114032" y="3456432"/>
            <a:ext cx="1572768" cy="347472"/>
          </a:xfrm>
          <a:prstGeom prst="roundRect">
            <a:avLst>
              <a:gd name="adj" fmla="val 15789"/>
            </a:avLst>
          </a:prstGeom>
          <a:solidFill>
            <a:srgbClr val="EEF2FF"/>
          </a:solidFill>
          <a:ln w="12700">
            <a:solidFill>
              <a:srgbClr val="C7D2FE"/>
            </a:solidFill>
            <a:prstDash val="solid"/>
          </a:ln>
        </p:spPr>
      </p:sp>
      <p:sp>
        <p:nvSpPr>
          <p:cNvPr id="27" name="Text 25"/>
          <p:cNvSpPr/>
          <p:nvPr/>
        </p:nvSpPr>
        <p:spPr>
          <a:xfrm>
            <a:off x="7114032" y="3456432"/>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Country</a:t>
            </a:r>
            <a:endParaRPr lang="en-US" sz="1000" dirty="0"/>
          </a:p>
        </p:txBody>
      </p:sp>
      <p:sp>
        <p:nvSpPr>
          <p:cNvPr id="28" name="Shape 26"/>
          <p:cNvSpPr/>
          <p:nvPr/>
        </p:nvSpPr>
        <p:spPr>
          <a:xfrm>
            <a:off x="457200" y="3931920"/>
            <a:ext cx="1572768" cy="347472"/>
          </a:xfrm>
          <a:prstGeom prst="roundRect">
            <a:avLst>
              <a:gd name="adj" fmla="val 15789"/>
            </a:avLst>
          </a:prstGeom>
          <a:solidFill>
            <a:srgbClr val="EEF2FF"/>
          </a:solidFill>
          <a:ln w="12700">
            <a:solidFill>
              <a:srgbClr val="C7D2FE"/>
            </a:solidFill>
            <a:prstDash val="solid"/>
          </a:ln>
        </p:spPr>
      </p:sp>
      <p:sp>
        <p:nvSpPr>
          <p:cNvPr id="29" name="Text 27"/>
          <p:cNvSpPr/>
          <p:nvPr/>
        </p:nvSpPr>
        <p:spPr>
          <a:xfrm>
            <a:off x="457200" y="3931920"/>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Date Added</a:t>
            </a:r>
            <a:endParaRPr lang="en-US" sz="1000" dirty="0"/>
          </a:p>
        </p:txBody>
      </p:sp>
      <p:sp>
        <p:nvSpPr>
          <p:cNvPr id="30" name="Shape 28"/>
          <p:cNvSpPr/>
          <p:nvPr/>
        </p:nvSpPr>
        <p:spPr>
          <a:xfrm>
            <a:off x="2121408" y="3931920"/>
            <a:ext cx="1572768" cy="347472"/>
          </a:xfrm>
          <a:prstGeom prst="roundRect">
            <a:avLst>
              <a:gd name="adj" fmla="val 15789"/>
            </a:avLst>
          </a:prstGeom>
          <a:solidFill>
            <a:srgbClr val="EEF2FF"/>
          </a:solidFill>
          <a:ln w="12700">
            <a:solidFill>
              <a:srgbClr val="C7D2FE"/>
            </a:solidFill>
            <a:prstDash val="solid"/>
          </a:ln>
        </p:spPr>
      </p:sp>
      <p:sp>
        <p:nvSpPr>
          <p:cNvPr id="31" name="Text 29"/>
          <p:cNvSpPr/>
          <p:nvPr/>
        </p:nvSpPr>
        <p:spPr>
          <a:xfrm>
            <a:off x="2121408" y="3931920"/>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Release Year</a:t>
            </a:r>
            <a:endParaRPr lang="en-US" sz="1000" dirty="0"/>
          </a:p>
        </p:txBody>
      </p:sp>
      <p:sp>
        <p:nvSpPr>
          <p:cNvPr id="32" name="Shape 30"/>
          <p:cNvSpPr/>
          <p:nvPr/>
        </p:nvSpPr>
        <p:spPr>
          <a:xfrm>
            <a:off x="3785616" y="3931920"/>
            <a:ext cx="1572768" cy="347472"/>
          </a:xfrm>
          <a:prstGeom prst="roundRect">
            <a:avLst>
              <a:gd name="adj" fmla="val 15789"/>
            </a:avLst>
          </a:prstGeom>
          <a:solidFill>
            <a:srgbClr val="EEF2FF"/>
          </a:solidFill>
          <a:ln w="12700">
            <a:solidFill>
              <a:srgbClr val="C7D2FE"/>
            </a:solidFill>
            <a:prstDash val="solid"/>
          </a:ln>
        </p:spPr>
      </p:sp>
      <p:sp>
        <p:nvSpPr>
          <p:cNvPr id="33" name="Text 31"/>
          <p:cNvSpPr/>
          <p:nvPr/>
        </p:nvSpPr>
        <p:spPr>
          <a:xfrm>
            <a:off x="3785616" y="3931920"/>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Rating</a:t>
            </a:r>
            <a:endParaRPr lang="en-US" sz="1000" dirty="0"/>
          </a:p>
        </p:txBody>
      </p:sp>
      <p:sp>
        <p:nvSpPr>
          <p:cNvPr id="34" name="Shape 32"/>
          <p:cNvSpPr/>
          <p:nvPr/>
        </p:nvSpPr>
        <p:spPr>
          <a:xfrm>
            <a:off x="5449824" y="3931920"/>
            <a:ext cx="1572768" cy="347472"/>
          </a:xfrm>
          <a:prstGeom prst="roundRect">
            <a:avLst>
              <a:gd name="adj" fmla="val 15789"/>
            </a:avLst>
          </a:prstGeom>
          <a:solidFill>
            <a:srgbClr val="EEF2FF"/>
          </a:solidFill>
          <a:ln w="12700">
            <a:solidFill>
              <a:srgbClr val="C7D2FE"/>
            </a:solidFill>
            <a:prstDash val="solid"/>
          </a:ln>
        </p:spPr>
      </p:sp>
      <p:sp>
        <p:nvSpPr>
          <p:cNvPr id="35" name="Text 33"/>
          <p:cNvSpPr/>
          <p:nvPr/>
        </p:nvSpPr>
        <p:spPr>
          <a:xfrm>
            <a:off x="5449824" y="3931920"/>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Duration</a:t>
            </a:r>
            <a:endParaRPr lang="en-US" sz="1000" dirty="0"/>
          </a:p>
        </p:txBody>
      </p:sp>
      <p:sp>
        <p:nvSpPr>
          <p:cNvPr id="36" name="Shape 34"/>
          <p:cNvSpPr/>
          <p:nvPr/>
        </p:nvSpPr>
        <p:spPr>
          <a:xfrm>
            <a:off x="7114032" y="3931920"/>
            <a:ext cx="1572768" cy="347472"/>
          </a:xfrm>
          <a:prstGeom prst="roundRect">
            <a:avLst>
              <a:gd name="adj" fmla="val 15789"/>
            </a:avLst>
          </a:prstGeom>
          <a:solidFill>
            <a:srgbClr val="EEF2FF"/>
          </a:solidFill>
          <a:ln w="12700">
            <a:solidFill>
              <a:srgbClr val="C7D2FE"/>
            </a:solidFill>
            <a:prstDash val="solid"/>
          </a:ln>
        </p:spPr>
      </p:sp>
      <p:sp>
        <p:nvSpPr>
          <p:cNvPr id="37" name="Text 35"/>
          <p:cNvSpPr/>
          <p:nvPr/>
        </p:nvSpPr>
        <p:spPr>
          <a:xfrm>
            <a:off x="7114032" y="3931920"/>
            <a:ext cx="1572768" cy="347472"/>
          </a:xfrm>
          <a:prstGeom prst="rect">
            <a:avLst/>
          </a:prstGeom>
          <a:noFill/>
          <a:ln/>
        </p:spPr>
        <p:txBody>
          <a:bodyPr wrap="square" lIns="0" tIns="0" rIns="0" bIns="0"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Genre</a:t>
            </a:r>
            <a:endParaRPr lang="en-US" sz="1000" dirty="0"/>
          </a:p>
        </p:txBody>
      </p:sp>
      <p:sp>
        <p:nvSpPr>
          <p:cNvPr id="38" name="Text 36"/>
          <p:cNvSpPr/>
          <p:nvPr/>
        </p:nvSpPr>
        <p:spPr>
          <a:xfrm>
            <a:off x="457200" y="4800600"/>
            <a:ext cx="8229600" cy="256032"/>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Source: Kaggle -- Netflix Movies and TV Shows dataset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457200" y="320040"/>
            <a:ext cx="1920240" cy="347472"/>
          </a:xfrm>
          <a:prstGeom prst="roundRect">
            <a:avLst>
              <a:gd name="adj" fmla="val 15789"/>
            </a:avLst>
          </a:prstGeom>
          <a:solidFill>
            <a:srgbClr val="1A1A2E"/>
          </a:solidFill>
          <a:ln w="12700">
            <a:solidFill>
              <a:srgbClr val="1A1A2E"/>
            </a:solidFill>
            <a:prstDash val="solid"/>
          </a:ln>
        </p:spPr>
      </p:sp>
      <p:sp>
        <p:nvSpPr>
          <p:cNvPr id="3" name="Text 1"/>
          <p:cNvSpPr/>
          <p:nvPr/>
        </p:nvSpPr>
        <p:spPr>
          <a:xfrm>
            <a:off x="457200" y="320040"/>
            <a:ext cx="19202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HYPOTHESES</a:t>
            </a:r>
            <a:endParaRPr lang="en-US" sz="1100" dirty="0"/>
          </a:p>
        </p:txBody>
      </p:sp>
      <p:sp>
        <p:nvSpPr>
          <p:cNvPr id="4" name="Text 2"/>
          <p:cNvSpPr/>
          <p:nvPr/>
        </p:nvSpPr>
        <p:spPr>
          <a:xfrm>
            <a:off x="457200" y="777240"/>
            <a:ext cx="8229600" cy="594360"/>
          </a:xfrm>
          <a:prstGeom prst="rect">
            <a:avLst/>
          </a:prstGeom>
          <a:noFill/>
          <a:ln/>
        </p:spPr>
        <p:txBody>
          <a:bodyPr wrap="square" rtlCol="0" anchor="ctr"/>
          <a:lstStyle/>
          <a:p>
            <a:pPr indent="0" marL="0">
              <a:buNone/>
            </a:pPr>
            <a:r>
              <a:rPr lang="en-US" sz="2800" b="1" dirty="0">
                <a:solidFill>
                  <a:srgbClr val="1A1A2E"/>
                </a:solidFill>
                <a:latin typeface="Calibri" pitchFamily="34" charset="0"/>
                <a:ea typeface="Calibri" pitchFamily="34" charset="-122"/>
                <a:cs typeface="Calibri" pitchFamily="34" charset="-120"/>
              </a:rPr>
              <a:t>What We Set Out to Explore</a:t>
            </a:r>
            <a:endParaRPr lang="en-US" sz="2800" dirty="0"/>
          </a:p>
        </p:txBody>
      </p:sp>
      <p:sp>
        <p:nvSpPr>
          <p:cNvPr id="5" name="Shape 3"/>
          <p:cNvSpPr/>
          <p:nvPr/>
        </p:nvSpPr>
        <p:spPr>
          <a:xfrm>
            <a:off x="548640" y="1508760"/>
            <a:ext cx="8046720" cy="694944"/>
          </a:xfrm>
          <a:prstGeom prst="roundRect">
            <a:avLst>
              <a:gd name="adj" fmla="val 10526"/>
            </a:avLst>
          </a:prstGeom>
          <a:solidFill>
            <a:srgbClr val="FFF3CD"/>
          </a:solidFill>
          <a:ln w="12700">
            <a:solidFill>
              <a:srgbClr val="FFC107"/>
            </a:solidFill>
            <a:prstDash val="solid"/>
          </a:ln>
        </p:spPr>
      </p:sp>
      <p:sp>
        <p:nvSpPr>
          <p:cNvPr id="6" name="Text 4"/>
          <p:cNvSpPr/>
          <p:nvPr/>
        </p:nvSpPr>
        <p:spPr>
          <a:xfrm>
            <a:off x="777240" y="1554480"/>
            <a:ext cx="7498080" cy="603504"/>
          </a:xfrm>
          <a:prstGeom prst="rect">
            <a:avLst/>
          </a:prstGeom>
          <a:noFill/>
          <a:ln/>
        </p:spPr>
        <p:txBody>
          <a:bodyPr wrap="square" rtlCol="0" anchor="ctr"/>
          <a:lstStyle/>
          <a:p>
            <a:pPr indent="0" marL="0">
              <a:buNone/>
            </a:pPr>
            <a:r>
              <a:rPr lang="en-US" sz="1100" b="1" dirty="0">
                <a:solidFill>
                  <a:srgbClr val="1A1A2E"/>
                </a:solidFill>
              </a:rPr>
              <a:t>A.1  Simple  </a:t>
            </a:r>
            <a:pPr indent="0" marL="0">
              <a:buNone/>
            </a:pPr>
            <a:r>
              <a:rPr lang="en-US" sz="1100" dirty="0">
                <a:solidFill>
                  <a:srgbClr val="1A1A2E"/>
                </a:solidFill>
              </a:rPr>
              <a:t>Netflix contains significantly more Movies than TV Shows.</a:t>
            </a:r>
            <a:endParaRPr lang="en-US" sz="1100" dirty="0"/>
          </a:p>
        </p:txBody>
      </p:sp>
      <p:sp>
        <p:nvSpPr>
          <p:cNvPr id="7" name="Shape 5"/>
          <p:cNvSpPr/>
          <p:nvPr/>
        </p:nvSpPr>
        <p:spPr>
          <a:xfrm>
            <a:off x="548640" y="2331720"/>
            <a:ext cx="8046720" cy="694944"/>
          </a:xfrm>
          <a:prstGeom prst="roundRect">
            <a:avLst>
              <a:gd name="adj" fmla="val 10526"/>
            </a:avLst>
          </a:prstGeom>
          <a:solidFill>
            <a:srgbClr val="FFF3CD"/>
          </a:solidFill>
          <a:ln w="12700">
            <a:solidFill>
              <a:srgbClr val="FFC107"/>
            </a:solidFill>
            <a:prstDash val="solid"/>
          </a:ln>
        </p:spPr>
      </p:sp>
      <p:sp>
        <p:nvSpPr>
          <p:cNvPr id="8" name="Text 6"/>
          <p:cNvSpPr/>
          <p:nvPr/>
        </p:nvSpPr>
        <p:spPr>
          <a:xfrm>
            <a:off x="777240" y="2377440"/>
            <a:ext cx="7498080" cy="603504"/>
          </a:xfrm>
          <a:prstGeom prst="rect">
            <a:avLst/>
          </a:prstGeom>
          <a:noFill/>
          <a:ln/>
        </p:spPr>
        <p:txBody>
          <a:bodyPr wrap="square" rtlCol="0" anchor="ctr"/>
          <a:lstStyle/>
          <a:p>
            <a:pPr indent="0" marL="0">
              <a:buNone/>
            </a:pPr>
            <a:r>
              <a:rPr lang="en-US" sz="1100" b="1" dirty="0">
                <a:solidFill>
                  <a:srgbClr val="1A1A2E"/>
                </a:solidFill>
              </a:rPr>
              <a:t>A.2  Simple  </a:t>
            </a:r>
            <a:pPr indent="0" marL="0">
              <a:buNone/>
            </a:pPr>
            <a:r>
              <a:rPr lang="en-US" sz="1100" dirty="0">
                <a:solidFill>
                  <a:srgbClr val="1A1A2E"/>
                </a:solidFill>
              </a:rPr>
              <a:t>The number of titles added to Netflix has increased substantially over the years.</a:t>
            </a:r>
            <a:endParaRPr lang="en-US" sz="1100" dirty="0"/>
          </a:p>
        </p:txBody>
      </p:sp>
      <p:sp>
        <p:nvSpPr>
          <p:cNvPr id="9" name="Shape 7"/>
          <p:cNvSpPr/>
          <p:nvPr/>
        </p:nvSpPr>
        <p:spPr>
          <a:xfrm>
            <a:off x="548640" y="3154680"/>
            <a:ext cx="8046720" cy="694944"/>
          </a:xfrm>
          <a:prstGeom prst="roundRect">
            <a:avLst>
              <a:gd name="adj" fmla="val 10526"/>
            </a:avLst>
          </a:prstGeom>
          <a:solidFill>
            <a:srgbClr val="E8F4FD"/>
          </a:solidFill>
          <a:ln w="12700">
            <a:solidFill>
              <a:srgbClr val="4A90D9"/>
            </a:solidFill>
            <a:prstDash val="solid"/>
          </a:ln>
        </p:spPr>
      </p:sp>
      <p:sp>
        <p:nvSpPr>
          <p:cNvPr id="10" name="Text 8"/>
          <p:cNvSpPr/>
          <p:nvPr/>
        </p:nvSpPr>
        <p:spPr>
          <a:xfrm>
            <a:off x="777240" y="3200400"/>
            <a:ext cx="7498080" cy="603504"/>
          </a:xfrm>
          <a:prstGeom prst="rect">
            <a:avLst/>
          </a:prstGeom>
          <a:noFill/>
          <a:ln/>
        </p:spPr>
        <p:txBody>
          <a:bodyPr wrap="square" rtlCol="0" anchor="ctr"/>
          <a:lstStyle/>
          <a:p>
            <a:pPr indent="0" marL="0">
              <a:buNone/>
            </a:pPr>
            <a:r>
              <a:rPr lang="en-US" sz="1100" b="1" dirty="0">
                <a:solidFill>
                  <a:srgbClr val="1A1A2E"/>
                </a:solidFill>
              </a:rPr>
              <a:t>B.1  Complex  </a:t>
            </a:r>
            <a:pPr indent="0" marL="0">
              <a:buNone/>
            </a:pPr>
            <a:r>
              <a:rPr lang="en-US" sz="1100" dirty="0">
                <a:solidFill>
                  <a:srgbClr val="1A1A2E"/>
                </a:solidFill>
              </a:rPr>
              <a:t>Movies and TV shows differ in genre composition -- storytelling format drives genre choice.</a:t>
            </a:r>
            <a:endParaRPr lang="en-US" sz="1100" dirty="0"/>
          </a:p>
        </p:txBody>
      </p:sp>
      <p:sp>
        <p:nvSpPr>
          <p:cNvPr id="11" name="Shape 9"/>
          <p:cNvSpPr/>
          <p:nvPr/>
        </p:nvSpPr>
        <p:spPr>
          <a:xfrm>
            <a:off x="548640" y="3977640"/>
            <a:ext cx="8046720" cy="694944"/>
          </a:xfrm>
          <a:prstGeom prst="roundRect">
            <a:avLst>
              <a:gd name="adj" fmla="val 10526"/>
            </a:avLst>
          </a:prstGeom>
          <a:solidFill>
            <a:srgbClr val="E8F4FD"/>
          </a:solidFill>
          <a:ln w="12700">
            <a:solidFill>
              <a:srgbClr val="4A90D9"/>
            </a:solidFill>
            <a:prstDash val="solid"/>
          </a:ln>
        </p:spPr>
      </p:sp>
      <p:sp>
        <p:nvSpPr>
          <p:cNvPr id="12" name="Text 10"/>
          <p:cNvSpPr/>
          <p:nvPr/>
        </p:nvSpPr>
        <p:spPr>
          <a:xfrm>
            <a:off x="777240" y="4023360"/>
            <a:ext cx="7498080" cy="603504"/>
          </a:xfrm>
          <a:prstGeom prst="rect">
            <a:avLst/>
          </a:prstGeom>
          <a:noFill/>
          <a:ln/>
        </p:spPr>
        <p:txBody>
          <a:bodyPr wrap="square" rtlCol="0" anchor="ctr"/>
          <a:lstStyle/>
          <a:p>
            <a:pPr indent="0" marL="0">
              <a:buNone/>
            </a:pPr>
            <a:r>
              <a:rPr lang="en-US" sz="1100" b="1" dirty="0">
                <a:solidFill>
                  <a:srgbClr val="1A1A2E"/>
                </a:solidFill>
              </a:rPr>
              <a:t>B.2  Complex  </a:t>
            </a:r>
            <a:pPr indent="0" marL="0">
              <a:buNone/>
            </a:pPr>
            <a:r>
              <a:rPr lang="en-US" sz="1100" dirty="0">
                <a:solidFill>
                  <a:srgbClr val="1A1A2E"/>
                </a:solidFill>
              </a:rPr>
              <a:t>Content type depends on both country of origin and the year it was added to the platform.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457200" y="320040"/>
            <a:ext cx="2286000" cy="347472"/>
          </a:xfrm>
          <a:prstGeom prst="roundRect">
            <a:avLst>
              <a:gd name="adj" fmla="val 15789"/>
            </a:avLst>
          </a:prstGeom>
          <a:solidFill>
            <a:srgbClr val="E50914"/>
          </a:solidFill>
          <a:ln w="12700">
            <a:solidFill>
              <a:srgbClr val="E50914"/>
            </a:solidFill>
            <a:prstDash val="solid"/>
          </a:ln>
        </p:spPr>
      </p:sp>
      <p:sp>
        <p:nvSpPr>
          <p:cNvPr id="3" name="Text 1"/>
          <p:cNvSpPr/>
          <p:nvPr/>
        </p:nvSpPr>
        <p:spPr>
          <a:xfrm>
            <a:off x="457200" y="320040"/>
            <a:ext cx="22860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FINDING  A.1</a:t>
            </a:r>
            <a:endParaRPr lang="en-US" sz="1100" dirty="0"/>
          </a:p>
        </p:txBody>
      </p:sp>
      <p:sp>
        <p:nvSpPr>
          <p:cNvPr id="4" name="Text 2"/>
          <p:cNvSpPr/>
          <p:nvPr/>
        </p:nvSpPr>
        <p:spPr>
          <a:xfrm>
            <a:off x="457200" y="777240"/>
            <a:ext cx="8229600" cy="594360"/>
          </a:xfrm>
          <a:prstGeom prst="rect">
            <a:avLst/>
          </a:prstGeom>
          <a:noFill/>
          <a:ln/>
        </p:spPr>
        <p:txBody>
          <a:bodyPr wrap="square"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Movies Dominate Netflix's Catalog</a:t>
            </a:r>
            <a:endParaRPr lang="en-US" sz="2600" dirty="0"/>
          </a:p>
        </p:txBody>
      </p:sp>
      <p:sp>
        <p:nvSpPr>
          <p:cNvPr id="5" name="Shape 3"/>
          <p:cNvSpPr/>
          <p:nvPr/>
        </p:nvSpPr>
        <p:spPr>
          <a:xfrm>
            <a:off x="640080" y="1508760"/>
            <a:ext cx="3566160" cy="2286000"/>
          </a:xfrm>
          <a:prstGeom prst="roundRect">
            <a:avLst>
              <a:gd name="adj" fmla="val 4800"/>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6" name="Shape 4"/>
          <p:cNvSpPr/>
          <p:nvPr/>
        </p:nvSpPr>
        <p:spPr>
          <a:xfrm>
            <a:off x="640080" y="1508760"/>
            <a:ext cx="3566160" cy="82296"/>
          </a:xfrm>
          <a:prstGeom prst="rect">
            <a:avLst/>
          </a:prstGeom>
          <a:solidFill>
            <a:srgbClr val="E87B3E"/>
          </a:solidFill>
          <a:ln w="12700">
            <a:solidFill>
              <a:srgbClr val="E87B3E"/>
            </a:solidFill>
            <a:prstDash val="solid"/>
          </a:ln>
        </p:spPr>
      </p:sp>
      <p:sp>
        <p:nvSpPr>
          <p:cNvPr id="7" name="Text 5"/>
          <p:cNvSpPr/>
          <p:nvPr/>
        </p:nvSpPr>
        <p:spPr>
          <a:xfrm>
            <a:off x="640080" y="1645920"/>
            <a:ext cx="3566160" cy="1005840"/>
          </a:xfrm>
          <a:prstGeom prst="rect">
            <a:avLst/>
          </a:prstGeom>
          <a:noFill/>
          <a:ln/>
        </p:spPr>
        <p:txBody>
          <a:bodyPr wrap="square" rtlCol="0" anchor="ctr"/>
          <a:lstStyle/>
          <a:p>
            <a:pPr algn="ctr" indent="0" marL="0">
              <a:buNone/>
            </a:pPr>
            <a:r>
              <a:rPr lang="en-US" sz="5200" b="1" dirty="0">
                <a:solidFill>
                  <a:srgbClr val="E87B3E"/>
                </a:solidFill>
                <a:latin typeface="Calibri" pitchFamily="34" charset="0"/>
                <a:ea typeface="Calibri" pitchFamily="34" charset="-122"/>
                <a:cs typeface="Calibri" pitchFamily="34" charset="-120"/>
              </a:rPr>
              <a:t>69.6%</a:t>
            </a:r>
            <a:endParaRPr lang="en-US" sz="5200" dirty="0"/>
          </a:p>
        </p:txBody>
      </p:sp>
      <p:sp>
        <p:nvSpPr>
          <p:cNvPr id="8" name="Text 6"/>
          <p:cNvSpPr/>
          <p:nvPr/>
        </p:nvSpPr>
        <p:spPr>
          <a:xfrm>
            <a:off x="640080" y="2651760"/>
            <a:ext cx="3566160" cy="411480"/>
          </a:xfrm>
          <a:prstGeom prst="rect">
            <a:avLst/>
          </a:prstGeom>
          <a:noFill/>
          <a:ln/>
        </p:spPr>
        <p:txBody>
          <a:bodyPr wrap="square" rtlCol="0" anchor="ctr"/>
          <a:lstStyle/>
          <a:p>
            <a:pPr algn="ctr" indent="0" marL="0">
              <a:buNone/>
            </a:pPr>
            <a:r>
              <a:rPr lang="en-US" sz="1800" b="1" dirty="0">
                <a:solidFill>
                  <a:srgbClr val="1A1A2E"/>
                </a:solidFill>
                <a:latin typeface="Calibri" pitchFamily="34" charset="0"/>
                <a:ea typeface="Calibri" pitchFamily="34" charset="-122"/>
                <a:cs typeface="Calibri" pitchFamily="34" charset="-120"/>
              </a:rPr>
              <a:t>Movies</a:t>
            </a:r>
            <a:endParaRPr lang="en-US" sz="1800" dirty="0"/>
          </a:p>
        </p:txBody>
      </p:sp>
      <p:sp>
        <p:nvSpPr>
          <p:cNvPr id="9" name="Text 7"/>
          <p:cNvSpPr/>
          <p:nvPr/>
        </p:nvSpPr>
        <p:spPr>
          <a:xfrm>
            <a:off x="640080" y="3090672"/>
            <a:ext cx="3566160" cy="32004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6,131 titles</a:t>
            </a:r>
            <a:endParaRPr lang="en-US" sz="1200" dirty="0"/>
          </a:p>
        </p:txBody>
      </p:sp>
      <p:sp>
        <p:nvSpPr>
          <p:cNvPr id="10" name="Shape 8"/>
          <p:cNvSpPr/>
          <p:nvPr/>
        </p:nvSpPr>
        <p:spPr>
          <a:xfrm>
            <a:off x="4663440" y="1508760"/>
            <a:ext cx="3566160" cy="2286000"/>
          </a:xfrm>
          <a:prstGeom prst="roundRect">
            <a:avLst>
              <a:gd name="adj" fmla="val 4800"/>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11" name="Shape 9"/>
          <p:cNvSpPr/>
          <p:nvPr/>
        </p:nvSpPr>
        <p:spPr>
          <a:xfrm>
            <a:off x="4663440" y="1508760"/>
            <a:ext cx="3566160" cy="82296"/>
          </a:xfrm>
          <a:prstGeom prst="rect">
            <a:avLst/>
          </a:prstGeom>
          <a:solidFill>
            <a:srgbClr val="4A90D9"/>
          </a:solidFill>
          <a:ln w="12700">
            <a:solidFill>
              <a:srgbClr val="4A90D9"/>
            </a:solidFill>
            <a:prstDash val="solid"/>
          </a:ln>
        </p:spPr>
      </p:sp>
      <p:sp>
        <p:nvSpPr>
          <p:cNvPr id="12" name="Text 10"/>
          <p:cNvSpPr/>
          <p:nvPr/>
        </p:nvSpPr>
        <p:spPr>
          <a:xfrm>
            <a:off x="4663440" y="1645920"/>
            <a:ext cx="3566160" cy="1005840"/>
          </a:xfrm>
          <a:prstGeom prst="rect">
            <a:avLst/>
          </a:prstGeom>
          <a:noFill/>
          <a:ln/>
        </p:spPr>
        <p:txBody>
          <a:bodyPr wrap="square" rtlCol="0" anchor="ctr"/>
          <a:lstStyle/>
          <a:p>
            <a:pPr algn="ctr" indent="0" marL="0">
              <a:buNone/>
            </a:pPr>
            <a:r>
              <a:rPr lang="en-US" sz="5200" b="1" dirty="0">
                <a:solidFill>
                  <a:srgbClr val="4A90D9"/>
                </a:solidFill>
                <a:latin typeface="Calibri" pitchFamily="34" charset="0"/>
                <a:ea typeface="Calibri" pitchFamily="34" charset="-122"/>
                <a:cs typeface="Calibri" pitchFamily="34" charset="-120"/>
              </a:rPr>
              <a:t>30.4%</a:t>
            </a:r>
            <a:endParaRPr lang="en-US" sz="5200" dirty="0"/>
          </a:p>
        </p:txBody>
      </p:sp>
      <p:sp>
        <p:nvSpPr>
          <p:cNvPr id="13" name="Text 11"/>
          <p:cNvSpPr/>
          <p:nvPr/>
        </p:nvSpPr>
        <p:spPr>
          <a:xfrm>
            <a:off x="4663440" y="2651760"/>
            <a:ext cx="3566160" cy="411480"/>
          </a:xfrm>
          <a:prstGeom prst="rect">
            <a:avLst/>
          </a:prstGeom>
          <a:noFill/>
          <a:ln/>
        </p:spPr>
        <p:txBody>
          <a:bodyPr wrap="square" rtlCol="0" anchor="ctr"/>
          <a:lstStyle/>
          <a:p>
            <a:pPr algn="ctr" indent="0" marL="0">
              <a:buNone/>
            </a:pPr>
            <a:r>
              <a:rPr lang="en-US" sz="1800" b="1" dirty="0">
                <a:solidFill>
                  <a:srgbClr val="1A1A2E"/>
                </a:solidFill>
                <a:latin typeface="Calibri" pitchFamily="34" charset="0"/>
                <a:ea typeface="Calibri" pitchFamily="34" charset="-122"/>
                <a:cs typeface="Calibri" pitchFamily="34" charset="-120"/>
              </a:rPr>
              <a:t>TV Shows</a:t>
            </a:r>
            <a:endParaRPr lang="en-US" sz="1800" dirty="0"/>
          </a:p>
        </p:txBody>
      </p:sp>
      <p:sp>
        <p:nvSpPr>
          <p:cNvPr id="14" name="Text 12"/>
          <p:cNvSpPr/>
          <p:nvPr/>
        </p:nvSpPr>
        <p:spPr>
          <a:xfrm>
            <a:off x="4663440" y="3090672"/>
            <a:ext cx="3566160" cy="32004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2,676 titles</a:t>
            </a:r>
            <a:endParaRPr lang="en-US" sz="1200" dirty="0"/>
          </a:p>
        </p:txBody>
      </p:sp>
      <p:sp>
        <p:nvSpPr>
          <p:cNvPr id="15" name="Shape 13"/>
          <p:cNvSpPr/>
          <p:nvPr/>
        </p:nvSpPr>
        <p:spPr>
          <a:xfrm>
            <a:off x="457200" y="3931920"/>
            <a:ext cx="8229600" cy="868680"/>
          </a:xfrm>
          <a:prstGeom prst="roundRect">
            <a:avLst>
              <a:gd name="adj" fmla="val 8421"/>
            </a:avLst>
          </a:prstGeom>
          <a:solidFill>
            <a:srgbClr val="FFF8F0"/>
          </a:solidFill>
          <a:ln w="12700">
            <a:solidFill>
              <a:srgbClr val="E87B3E"/>
            </a:solidFill>
            <a:prstDash val="solid"/>
          </a:ln>
        </p:spPr>
      </p:sp>
      <p:sp>
        <p:nvSpPr>
          <p:cNvPr id="16" name="Text 14"/>
          <p:cNvSpPr/>
          <p:nvPr/>
        </p:nvSpPr>
        <p:spPr>
          <a:xfrm>
            <a:off x="685800" y="3977640"/>
            <a:ext cx="7863840" cy="77724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[OK]  Hypothesis confirmed: Netflix offers roughly 2.3x more movies than TV shows. Any further analysis of Netflix content should treat the two types separately due to their significantly different volumes.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457200" y="320040"/>
            <a:ext cx="2286000" cy="347472"/>
          </a:xfrm>
          <a:prstGeom prst="roundRect">
            <a:avLst>
              <a:gd name="adj" fmla="val 15789"/>
            </a:avLst>
          </a:prstGeom>
          <a:solidFill>
            <a:srgbClr val="E50914"/>
          </a:solidFill>
          <a:ln w="12700">
            <a:solidFill>
              <a:srgbClr val="E50914"/>
            </a:solidFill>
            <a:prstDash val="solid"/>
          </a:ln>
        </p:spPr>
      </p:sp>
      <p:sp>
        <p:nvSpPr>
          <p:cNvPr id="3" name="Text 1"/>
          <p:cNvSpPr/>
          <p:nvPr/>
        </p:nvSpPr>
        <p:spPr>
          <a:xfrm>
            <a:off x="457200" y="320040"/>
            <a:ext cx="22860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FINDING  A.2</a:t>
            </a:r>
            <a:endParaRPr lang="en-US" sz="1100" dirty="0"/>
          </a:p>
        </p:txBody>
      </p:sp>
      <p:sp>
        <p:nvSpPr>
          <p:cNvPr id="4" name="Text 2"/>
          <p:cNvSpPr/>
          <p:nvPr/>
        </p:nvSpPr>
        <p:spPr>
          <a:xfrm>
            <a:off x="457200" y="777240"/>
            <a:ext cx="8229600" cy="594360"/>
          </a:xfrm>
          <a:prstGeom prst="rect">
            <a:avLst/>
          </a:prstGeom>
          <a:noFill/>
          <a:ln/>
        </p:spPr>
        <p:txBody>
          <a:bodyPr wrap="square"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Netflix's Rapid Expansion: 2014-2019</a:t>
            </a:r>
            <a:endParaRPr lang="en-US" sz="2600" dirty="0"/>
          </a:p>
        </p:txBody>
      </p:sp>
      <p:graphicFrame>
        <p:nvGraphicFramePr>
          <p:cNvPr id="5" name="Chart 0" descr=""/>
          <p:cNvGraphicFramePr/>
          <p:nvPr/>
        </p:nvGraphicFramePr>
        <p:xfrm>
          <a:off x="457200" y="1463040"/>
          <a:ext cx="822960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4736592"/>
            <a:ext cx="8229600" cy="292608"/>
          </a:xfrm>
          <a:prstGeom prst="rect">
            <a:avLst/>
          </a:prstGeom>
          <a:noFill/>
          <a:ln/>
        </p:spPr>
        <p:txBody>
          <a:bodyPr wrap="square" rtlCol="0" anchor="ctr"/>
          <a:lstStyle/>
          <a:p>
            <a:pPr algn="ctr" indent="0" marL="0">
              <a:buNone/>
            </a:pPr>
            <a:r>
              <a:rPr lang="en-US" sz="1100" i="1" dirty="0">
                <a:solidFill>
                  <a:srgbClr val="1A1A2E"/>
                </a:solidFill>
                <a:latin typeface="Calibri" pitchFamily="34" charset="0"/>
                <a:ea typeface="Calibri" pitchFamily="34" charset="-122"/>
                <a:cs typeface="Calibri" pitchFamily="34" charset="-120"/>
              </a:rPr>
              <a:t>2014: Global expansion begins  --  2019: Peak additions (2,016 titles added)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457200" y="320040"/>
            <a:ext cx="2286000" cy="347472"/>
          </a:xfrm>
          <a:prstGeom prst="roundRect">
            <a:avLst>
              <a:gd name="adj" fmla="val 15789"/>
            </a:avLst>
          </a:prstGeom>
          <a:solidFill>
            <a:srgbClr val="1A1A2E"/>
          </a:solidFill>
          <a:ln w="12700">
            <a:solidFill>
              <a:srgbClr val="1A1A2E"/>
            </a:solidFill>
            <a:prstDash val="solid"/>
          </a:ln>
        </p:spPr>
      </p:sp>
      <p:sp>
        <p:nvSpPr>
          <p:cNvPr id="3" name="Text 1"/>
          <p:cNvSpPr/>
          <p:nvPr/>
        </p:nvSpPr>
        <p:spPr>
          <a:xfrm>
            <a:off x="457200" y="320040"/>
            <a:ext cx="22860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FINDING  B.1</a:t>
            </a:r>
            <a:endParaRPr lang="en-US" sz="1100" dirty="0"/>
          </a:p>
        </p:txBody>
      </p:sp>
      <p:sp>
        <p:nvSpPr>
          <p:cNvPr id="4" name="Text 2"/>
          <p:cNvSpPr/>
          <p:nvPr/>
        </p:nvSpPr>
        <p:spPr>
          <a:xfrm>
            <a:off x="457200" y="777240"/>
            <a:ext cx="8229600" cy="594360"/>
          </a:xfrm>
          <a:prstGeom prst="rect">
            <a:avLst/>
          </a:prstGeom>
          <a:noFill/>
          <a:ln/>
        </p:spPr>
        <p:txBody>
          <a:bodyPr wrap="square" rtlCol="0" anchor="ctr"/>
          <a:lstStyle/>
          <a:p>
            <a:pPr indent="0" marL="0">
              <a:buNone/>
            </a:pPr>
            <a:r>
              <a:rPr lang="en-US" sz="2400" b="1" dirty="0">
                <a:solidFill>
                  <a:srgbClr val="1A1A2E"/>
                </a:solidFill>
                <a:latin typeface="Calibri" pitchFamily="34" charset="0"/>
                <a:ea typeface="Calibri" pitchFamily="34" charset="-122"/>
                <a:cs typeface="Calibri" pitchFamily="34" charset="-120"/>
              </a:rPr>
              <a:t>Genre Composition Differs by Content Type</a:t>
            </a:r>
            <a:endParaRPr lang="en-US" sz="2400" dirty="0"/>
          </a:p>
        </p:txBody>
      </p:sp>
      <p:pic>
        <p:nvPicPr>
          <p:cNvPr id="5" name="Image 0" descr="preencoded.png">    </p:cNvPr>
          <p:cNvPicPr>
            <a:picLocks noChangeAspect="1"/>
          </p:cNvPicPr>
          <p:nvPr/>
        </p:nvPicPr>
        <p:blipFill>
          <a:blip r:embed="rId1"/>
          <a:stretch>
            <a:fillRect/>
          </a:stretch>
        </p:blipFill>
        <p:spPr>
          <a:xfrm>
            <a:off x="365760" y="1463040"/>
            <a:ext cx="5486400" cy="3474720"/>
          </a:xfrm>
          <a:prstGeom prst="rect">
            <a:avLst/>
          </a:prstGeom>
        </p:spPr>
      </p:pic>
      <p:sp>
        <p:nvSpPr>
          <p:cNvPr id="6" name="Shape 3"/>
          <p:cNvSpPr/>
          <p:nvPr/>
        </p:nvSpPr>
        <p:spPr>
          <a:xfrm>
            <a:off x="5989320" y="1463040"/>
            <a:ext cx="2743200" cy="594360"/>
          </a:xfrm>
          <a:prstGeom prst="roundRect">
            <a:avLst>
              <a:gd name="adj" fmla="val 10769"/>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7" name="Shape 4"/>
          <p:cNvSpPr/>
          <p:nvPr/>
        </p:nvSpPr>
        <p:spPr>
          <a:xfrm>
            <a:off x="6080760" y="1636776"/>
            <a:ext cx="201168" cy="201168"/>
          </a:xfrm>
          <a:prstGeom prst="ellipse">
            <a:avLst/>
          </a:prstGeom>
          <a:solidFill>
            <a:srgbClr val="E87B3E"/>
          </a:solidFill>
          <a:ln w="12700">
            <a:solidFill>
              <a:srgbClr val="E87B3E"/>
            </a:solidFill>
            <a:prstDash val="solid"/>
          </a:ln>
        </p:spPr>
      </p:sp>
      <p:sp>
        <p:nvSpPr>
          <p:cNvPr id="8" name="Text 5"/>
          <p:cNvSpPr/>
          <p:nvPr/>
        </p:nvSpPr>
        <p:spPr>
          <a:xfrm>
            <a:off x="6355080" y="1517904"/>
            <a:ext cx="2240280" cy="484632"/>
          </a:xfrm>
          <a:prstGeom prst="rect">
            <a:avLst/>
          </a:prstGeom>
          <a:noFill/>
          <a:ln/>
        </p:spPr>
        <p:txBody>
          <a:bodyPr wrap="square" rtlCol="0" anchor="ctr"/>
          <a:lstStyle/>
          <a:p>
            <a:pPr indent="0" marL="0">
              <a:buNone/>
            </a:pPr>
            <a:r>
              <a:rPr lang="en-US" sz="950" b="1" dirty="0">
                <a:solidFill>
                  <a:srgbClr val="1A1A2E"/>
                </a:solidFill>
              </a:rPr>
              <a:t>Drama: </a:t>
            </a:r>
            <a:pPr indent="0" marL="0">
              <a:buNone/>
            </a:pPr>
            <a:r>
              <a:rPr lang="en-US" sz="950" dirty="0">
                <a:solidFill>
                  <a:srgbClr val="64748B"/>
                </a:solidFill>
              </a:rPr>
              <a:t>18.4% of Movies vs 12.4% of TV Shows</a:t>
            </a:r>
            <a:endParaRPr lang="en-US" sz="950" dirty="0"/>
          </a:p>
        </p:txBody>
      </p:sp>
      <p:sp>
        <p:nvSpPr>
          <p:cNvPr id="9" name="Shape 6"/>
          <p:cNvSpPr/>
          <p:nvPr/>
        </p:nvSpPr>
        <p:spPr>
          <a:xfrm>
            <a:off x="5989320" y="2167128"/>
            <a:ext cx="2743200" cy="594360"/>
          </a:xfrm>
          <a:prstGeom prst="roundRect">
            <a:avLst>
              <a:gd name="adj" fmla="val 10769"/>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10" name="Shape 7"/>
          <p:cNvSpPr/>
          <p:nvPr/>
        </p:nvSpPr>
        <p:spPr>
          <a:xfrm>
            <a:off x="6080760" y="2340864"/>
            <a:ext cx="201168" cy="201168"/>
          </a:xfrm>
          <a:prstGeom prst="ellipse">
            <a:avLst/>
          </a:prstGeom>
          <a:solidFill>
            <a:srgbClr val="4A90D9"/>
          </a:solidFill>
          <a:ln w="12700">
            <a:solidFill>
              <a:srgbClr val="4A90D9"/>
            </a:solidFill>
            <a:prstDash val="solid"/>
          </a:ln>
        </p:spPr>
      </p:sp>
      <p:sp>
        <p:nvSpPr>
          <p:cNvPr id="11" name="Text 8"/>
          <p:cNvSpPr/>
          <p:nvPr/>
        </p:nvSpPr>
        <p:spPr>
          <a:xfrm>
            <a:off x="6355080" y="2221992"/>
            <a:ext cx="2240280" cy="484632"/>
          </a:xfrm>
          <a:prstGeom prst="rect">
            <a:avLst/>
          </a:prstGeom>
          <a:noFill/>
          <a:ln/>
        </p:spPr>
        <p:txBody>
          <a:bodyPr wrap="square" rtlCol="0" anchor="ctr"/>
          <a:lstStyle/>
          <a:p>
            <a:pPr indent="0" marL="0">
              <a:buNone/>
            </a:pPr>
            <a:r>
              <a:rPr lang="en-US" sz="950" b="1" dirty="0">
                <a:solidFill>
                  <a:srgbClr val="1A1A2E"/>
                </a:solidFill>
              </a:rPr>
              <a:t>Crime: </a:t>
            </a:r>
            <a:pPr indent="0" marL="0">
              <a:buNone/>
            </a:pPr>
            <a:r>
              <a:rPr lang="en-US" sz="950" dirty="0">
                <a:solidFill>
                  <a:srgbClr val="64748B"/>
                </a:solidFill>
              </a:rPr>
              <a:t>TV-exclusive genre (7.7%)</a:t>
            </a:r>
            <a:endParaRPr lang="en-US" sz="950" dirty="0"/>
          </a:p>
        </p:txBody>
      </p:sp>
      <p:sp>
        <p:nvSpPr>
          <p:cNvPr id="12" name="Shape 9"/>
          <p:cNvSpPr/>
          <p:nvPr/>
        </p:nvSpPr>
        <p:spPr>
          <a:xfrm>
            <a:off x="5989320" y="2871216"/>
            <a:ext cx="2743200" cy="594360"/>
          </a:xfrm>
          <a:prstGeom prst="roundRect">
            <a:avLst>
              <a:gd name="adj" fmla="val 10769"/>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13" name="Shape 10"/>
          <p:cNvSpPr/>
          <p:nvPr/>
        </p:nvSpPr>
        <p:spPr>
          <a:xfrm>
            <a:off x="6080760" y="3044952"/>
            <a:ext cx="201168" cy="201168"/>
          </a:xfrm>
          <a:prstGeom prst="ellipse">
            <a:avLst/>
          </a:prstGeom>
          <a:solidFill>
            <a:srgbClr val="E87B3E"/>
          </a:solidFill>
          <a:ln w="12700">
            <a:solidFill>
              <a:srgbClr val="E87B3E"/>
            </a:solidFill>
            <a:prstDash val="solid"/>
          </a:ln>
        </p:spPr>
      </p:sp>
      <p:sp>
        <p:nvSpPr>
          <p:cNvPr id="14" name="Text 11"/>
          <p:cNvSpPr/>
          <p:nvPr/>
        </p:nvSpPr>
        <p:spPr>
          <a:xfrm>
            <a:off x="6355080" y="2926080"/>
            <a:ext cx="2240280" cy="484632"/>
          </a:xfrm>
          <a:prstGeom prst="rect">
            <a:avLst/>
          </a:prstGeom>
          <a:noFill/>
          <a:ln/>
        </p:spPr>
        <p:txBody>
          <a:bodyPr wrap="square" rtlCol="0" anchor="ctr"/>
          <a:lstStyle/>
          <a:p>
            <a:pPr indent="0" marL="0">
              <a:buNone/>
            </a:pPr>
            <a:r>
              <a:rPr lang="en-US" sz="950" b="1" dirty="0">
                <a:solidFill>
                  <a:srgbClr val="1A1A2E"/>
                </a:solidFill>
              </a:rPr>
              <a:t>Stand-Up: </a:t>
            </a:r>
            <a:pPr indent="0" marL="0">
              <a:buNone/>
            </a:pPr>
            <a:r>
              <a:rPr lang="en-US" sz="950" dirty="0">
                <a:solidFill>
                  <a:srgbClr val="64748B"/>
                </a:solidFill>
              </a:rPr>
              <a:t>Movie-exclusive genre (2.6%)</a:t>
            </a:r>
            <a:endParaRPr lang="en-US" sz="950" dirty="0"/>
          </a:p>
        </p:txBody>
      </p:sp>
      <p:sp>
        <p:nvSpPr>
          <p:cNvPr id="15" name="Shape 12"/>
          <p:cNvSpPr/>
          <p:nvPr/>
        </p:nvSpPr>
        <p:spPr>
          <a:xfrm>
            <a:off x="5989320" y="3575304"/>
            <a:ext cx="2743200" cy="594360"/>
          </a:xfrm>
          <a:prstGeom prst="roundRect">
            <a:avLst>
              <a:gd name="adj" fmla="val 10769"/>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16" name="Shape 13"/>
          <p:cNvSpPr/>
          <p:nvPr/>
        </p:nvSpPr>
        <p:spPr>
          <a:xfrm>
            <a:off x="6080760" y="3749040"/>
            <a:ext cx="201168" cy="201168"/>
          </a:xfrm>
          <a:prstGeom prst="ellipse">
            <a:avLst/>
          </a:prstGeom>
          <a:solidFill>
            <a:srgbClr val="E87B3E"/>
          </a:solidFill>
          <a:ln w="12700">
            <a:solidFill>
              <a:srgbClr val="E87B3E"/>
            </a:solidFill>
            <a:prstDash val="solid"/>
          </a:ln>
        </p:spPr>
      </p:sp>
      <p:sp>
        <p:nvSpPr>
          <p:cNvPr id="17" name="Text 14"/>
          <p:cNvSpPr/>
          <p:nvPr/>
        </p:nvSpPr>
        <p:spPr>
          <a:xfrm>
            <a:off x="6355080" y="3630168"/>
            <a:ext cx="2240280" cy="484632"/>
          </a:xfrm>
          <a:prstGeom prst="rect">
            <a:avLst/>
          </a:prstGeom>
          <a:noFill/>
          <a:ln/>
        </p:spPr>
        <p:txBody>
          <a:bodyPr wrap="square" rtlCol="0" anchor="ctr"/>
          <a:lstStyle/>
          <a:p>
            <a:pPr indent="0" marL="0">
              <a:buNone/>
            </a:pPr>
            <a:r>
              <a:rPr lang="en-US" sz="950" b="1" dirty="0">
                <a:solidFill>
                  <a:srgbClr val="1A1A2E"/>
                </a:solidFill>
              </a:rPr>
              <a:t>Horror: </a:t>
            </a:r>
            <a:pPr indent="0" marL="0">
              <a:buNone/>
            </a:pPr>
            <a:r>
              <a:rPr lang="en-US" sz="950" dirty="0">
                <a:solidFill>
                  <a:srgbClr val="64748B"/>
                </a:solidFill>
              </a:rPr>
              <a:t>Thriller &amp; Horror lean Movie-heavy</a:t>
            </a:r>
            <a:endParaRPr lang="en-US" sz="950" dirty="0"/>
          </a:p>
        </p:txBody>
      </p:sp>
      <p:sp>
        <p:nvSpPr>
          <p:cNvPr id="18" name="Shape 15"/>
          <p:cNvSpPr/>
          <p:nvPr/>
        </p:nvSpPr>
        <p:spPr>
          <a:xfrm>
            <a:off x="5989320" y="4279392"/>
            <a:ext cx="2743200" cy="594360"/>
          </a:xfrm>
          <a:prstGeom prst="roundRect">
            <a:avLst>
              <a:gd name="adj" fmla="val 10769"/>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19" name="Shape 16"/>
          <p:cNvSpPr/>
          <p:nvPr/>
        </p:nvSpPr>
        <p:spPr>
          <a:xfrm>
            <a:off x="6080760" y="4453128"/>
            <a:ext cx="201168" cy="201168"/>
          </a:xfrm>
          <a:prstGeom prst="ellipse">
            <a:avLst/>
          </a:prstGeom>
          <a:solidFill>
            <a:srgbClr val="4A90D9"/>
          </a:solidFill>
          <a:ln w="12700">
            <a:solidFill>
              <a:srgbClr val="4A90D9"/>
            </a:solidFill>
            <a:prstDash val="solid"/>
          </a:ln>
        </p:spPr>
      </p:sp>
      <p:sp>
        <p:nvSpPr>
          <p:cNvPr id="20" name="Text 17"/>
          <p:cNvSpPr/>
          <p:nvPr/>
        </p:nvSpPr>
        <p:spPr>
          <a:xfrm>
            <a:off x="6355080" y="4334256"/>
            <a:ext cx="2240280" cy="484632"/>
          </a:xfrm>
          <a:prstGeom prst="rect">
            <a:avLst/>
          </a:prstGeom>
          <a:noFill/>
          <a:ln/>
        </p:spPr>
        <p:txBody>
          <a:bodyPr wrap="square" rtlCol="0" anchor="ctr"/>
          <a:lstStyle/>
          <a:p>
            <a:pPr indent="0" marL="0">
              <a:buNone/>
            </a:pPr>
            <a:r>
              <a:rPr lang="en-US" sz="950" b="1" dirty="0">
                <a:solidFill>
                  <a:srgbClr val="1A1A2E"/>
                </a:solidFill>
              </a:rPr>
              <a:t>Reality TV: </a:t>
            </a:r>
            <a:pPr indent="0" marL="0">
              <a:buNone/>
            </a:pPr>
            <a:r>
              <a:rPr lang="en-US" sz="950" dirty="0">
                <a:solidFill>
                  <a:srgbClr val="64748B"/>
                </a:solidFill>
              </a:rPr>
              <a:t>TV-exclusive genre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457200" y="320040"/>
            <a:ext cx="2286000" cy="347472"/>
          </a:xfrm>
          <a:prstGeom prst="roundRect">
            <a:avLst>
              <a:gd name="adj" fmla="val 15789"/>
            </a:avLst>
          </a:prstGeom>
          <a:solidFill>
            <a:srgbClr val="1A1A2E"/>
          </a:solidFill>
          <a:ln w="12700">
            <a:solidFill>
              <a:srgbClr val="1A1A2E"/>
            </a:solidFill>
            <a:prstDash val="solid"/>
          </a:ln>
        </p:spPr>
      </p:sp>
      <p:sp>
        <p:nvSpPr>
          <p:cNvPr id="3" name="Text 1"/>
          <p:cNvSpPr/>
          <p:nvPr/>
        </p:nvSpPr>
        <p:spPr>
          <a:xfrm>
            <a:off x="457200" y="320040"/>
            <a:ext cx="22860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FINDING  B.2</a:t>
            </a:r>
            <a:endParaRPr lang="en-US" sz="1100" dirty="0"/>
          </a:p>
        </p:txBody>
      </p:sp>
      <p:sp>
        <p:nvSpPr>
          <p:cNvPr id="4" name="Text 2"/>
          <p:cNvSpPr/>
          <p:nvPr/>
        </p:nvSpPr>
        <p:spPr>
          <a:xfrm>
            <a:off x="457200" y="777240"/>
            <a:ext cx="8229600" cy="594360"/>
          </a:xfrm>
          <a:prstGeom prst="rect">
            <a:avLst/>
          </a:prstGeom>
          <a:noFill/>
          <a:ln/>
        </p:spPr>
        <p:txBody>
          <a:bodyPr wrap="square" rtlCol="0" anchor="ctr"/>
          <a:lstStyle/>
          <a:p>
            <a:pPr indent="0" marL="0">
              <a:buNone/>
            </a:pPr>
            <a:r>
              <a:rPr lang="en-US" sz="2400" b="1" dirty="0">
                <a:solidFill>
                  <a:srgbClr val="1A1A2E"/>
                </a:solidFill>
                <a:latin typeface="Calibri" pitchFamily="34" charset="0"/>
                <a:ea typeface="Calibri" pitchFamily="34" charset="-122"/>
                <a:cs typeface="Calibri" pitchFamily="34" charset="-120"/>
              </a:rPr>
              <a:t>Culture &amp; Time Jointly Shape Content Type</a:t>
            </a:r>
            <a:endParaRPr lang="en-US" sz="2400" dirty="0"/>
          </a:p>
        </p:txBody>
      </p:sp>
      <p:pic>
        <p:nvPicPr>
          <p:cNvPr id="5" name="Image 0" descr="preencoded.png">    </p:cNvPr>
          <p:cNvPicPr>
            <a:picLocks noChangeAspect="1"/>
          </p:cNvPicPr>
          <p:nvPr/>
        </p:nvPicPr>
        <p:blipFill>
          <a:blip r:embed="rId1"/>
          <a:stretch>
            <a:fillRect/>
          </a:stretch>
        </p:blipFill>
        <p:spPr>
          <a:xfrm>
            <a:off x="365760" y="1444752"/>
            <a:ext cx="8321040" cy="3291840"/>
          </a:xfrm>
          <a:prstGeom prst="rect">
            <a:avLst/>
          </a:prstGeom>
        </p:spPr>
      </p:pic>
      <p:sp>
        <p:nvSpPr>
          <p:cNvPr id="6" name="Shape 3"/>
          <p:cNvSpPr/>
          <p:nvPr/>
        </p:nvSpPr>
        <p:spPr>
          <a:xfrm>
            <a:off x="365760" y="4709160"/>
            <a:ext cx="2651760" cy="320040"/>
          </a:xfrm>
          <a:prstGeom prst="roundRect">
            <a:avLst>
              <a:gd name="adj" fmla="val 14286"/>
            </a:avLst>
          </a:prstGeom>
          <a:solidFill>
            <a:srgbClr val="DBEAFE"/>
          </a:solidFill>
          <a:ln w="12700">
            <a:solidFill>
              <a:srgbClr val="4A90D9"/>
            </a:solidFill>
            <a:prstDash val="solid"/>
          </a:ln>
        </p:spPr>
      </p:sp>
      <p:sp>
        <p:nvSpPr>
          <p:cNvPr id="7" name="Text 4"/>
          <p:cNvSpPr/>
          <p:nvPr/>
        </p:nvSpPr>
        <p:spPr>
          <a:xfrm>
            <a:off x="438912" y="4727448"/>
            <a:ext cx="2514600" cy="283464"/>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South Korea &amp; Japan  -  74-100% TV Shows -- strong serial drama cultures</a:t>
            </a:r>
            <a:endParaRPr lang="en-US" sz="750" dirty="0"/>
          </a:p>
        </p:txBody>
      </p:sp>
      <p:sp>
        <p:nvSpPr>
          <p:cNvPr id="8" name="Shape 5"/>
          <p:cNvSpPr/>
          <p:nvPr/>
        </p:nvSpPr>
        <p:spPr>
          <a:xfrm>
            <a:off x="3200400" y="4709160"/>
            <a:ext cx="2651760" cy="320040"/>
          </a:xfrm>
          <a:prstGeom prst="roundRect">
            <a:avLst>
              <a:gd name="adj" fmla="val 14286"/>
            </a:avLst>
          </a:prstGeom>
          <a:solidFill>
            <a:srgbClr val="FEE2E2"/>
          </a:solidFill>
          <a:ln w="12700">
            <a:solidFill>
              <a:srgbClr val="E50914"/>
            </a:solidFill>
            <a:prstDash val="solid"/>
          </a:ln>
        </p:spPr>
      </p:sp>
      <p:sp>
        <p:nvSpPr>
          <p:cNvPr id="9" name="Text 6"/>
          <p:cNvSpPr/>
          <p:nvPr/>
        </p:nvSpPr>
        <p:spPr>
          <a:xfrm>
            <a:off x="3273552" y="4727448"/>
            <a:ext cx="2514600" cy="283464"/>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India &amp; USA  -  Below 32% TV Shows -- large film industries dominate</a:t>
            </a:r>
            <a:endParaRPr lang="en-US" sz="750" dirty="0"/>
          </a:p>
        </p:txBody>
      </p:sp>
      <p:sp>
        <p:nvSpPr>
          <p:cNvPr id="10" name="Shape 7"/>
          <p:cNvSpPr/>
          <p:nvPr/>
        </p:nvSpPr>
        <p:spPr>
          <a:xfrm>
            <a:off x="6035040" y="4709160"/>
            <a:ext cx="2651760" cy="320040"/>
          </a:xfrm>
          <a:prstGeom prst="roundRect">
            <a:avLst>
              <a:gd name="adj" fmla="val 14286"/>
            </a:avLst>
          </a:prstGeom>
          <a:solidFill>
            <a:srgbClr val="F0FDF4"/>
          </a:solidFill>
          <a:ln w="12700">
            <a:solidFill>
              <a:srgbClr val="22C55E"/>
            </a:solidFill>
            <a:prstDash val="solid"/>
          </a:ln>
        </p:spPr>
      </p:sp>
      <p:sp>
        <p:nvSpPr>
          <p:cNvPr id="11" name="Text 8"/>
          <p:cNvSpPr/>
          <p:nvPr/>
        </p:nvSpPr>
        <p:spPr>
          <a:xfrm>
            <a:off x="6108192" y="4727448"/>
            <a:ext cx="2514600" cy="283464"/>
          </a:xfrm>
          <a:prstGeom prst="rect">
            <a:avLst/>
          </a:prstGeom>
          <a:noFill/>
          <a:ln/>
        </p:spPr>
        <p:txBody>
          <a:bodyPr wrap="square" rtlCol="0" anchor="ctr"/>
          <a:lstStyle/>
          <a:p>
            <a:pPr indent="0" marL="0">
              <a:buNone/>
            </a:pPr>
            <a:r>
              <a:rPr lang="en-US" sz="750" dirty="0">
                <a:solidFill>
                  <a:srgbClr val="1A1A2E"/>
                </a:solidFill>
                <a:latin typeface="Calibri" pitchFamily="34" charset="0"/>
                <a:ea typeface="Calibri" pitchFamily="34" charset="-122"/>
                <a:cs typeface="Calibri" pitchFamily="34" charset="-120"/>
              </a:rPr>
              <a:t>Global trend 2019+  -  Most countries are shifting toward more TV Shows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7"/>
        </a:solidFill>
      </p:bgPr>
    </p:bg>
    <p:spTree>
      <p:nvGrpSpPr>
        <p:cNvPr id="1" name=""/>
        <p:cNvGrpSpPr/>
        <p:nvPr/>
      </p:nvGrpSpPr>
      <p:grpSpPr>
        <a:xfrm>
          <a:off x="0" y="0"/>
          <a:ext cx="0" cy="0"/>
          <a:chOff x="0" y="0"/>
          <a:chExt cx="0" cy="0"/>
        </a:xfrm>
      </p:grpSpPr>
      <p:sp>
        <p:nvSpPr>
          <p:cNvPr id="2" name="Shape 0"/>
          <p:cNvSpPr/>
          <p:nvPr/>
        </p:nvSpPr>
        <p:spPr>
          <a:xfrm>
            <a:off x="457200" y="320040"/>
            <a:ext cx="2194560" cy="347472"/>
          </a:xfrm>
          <a:prstGeom prst="roundRect">
            <a:avLst>
              <a:gd name="adj" fmla="val 15789"/>
            </a:avLst>
          </a:prstGeom>
          <a:solidFill>
            <a:srgbClr val="7C3AED"/>
          </a:solidFill>
          <a:ln w="12700">
            <a:solidFill>
              <a:srgbClr val="7C3AED"/>
            </a:solidFill>
            <a:prstDash val="solid"/>
          </a:ln>
        </p:spPr>
      </p:sp>
      <p:sp>
        <p:nvSpPr>
          <p:cNvPr id="3" name="Text 1"/>
          <p:cNvSpPr/>
          <p:nvPr/>
        </p:nvSpPr>
        <p:spPr>
          <a:xfrm>
            <a:off x="457200" y="320040"/>
            <a:ext cx="21945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BLACK-HAT VIZ</a:t>
            </a:r>
            <a:endParaRPr lang="en-US" sz="1100" dirty="0"/>
          </a:p>
        </p:txBody>
      </p:sp>
      <p:sp>
        <p:nvSpPr>
          <p:cNvPr id="4" name="Text 2"/>
          <p:cNvSpPr/>
          <p:nvPr/>
        </p:nvSpPr>
        <p:spPr>
          <a:xfrm>
            <a:off x="457200" y="777240"/>
            <a:ext cx="8229600" cy="594360"/>
          </a:xfrm>
          <a:prstGeom prst="rect">
            <a:avLst/>
          </a:prstGeom>
          <a:noFill/>
          <a:ln/>
        </p:spPr>
        <p:txBody>
          <a:bodyPr wrap="square"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How to Lie With a Bar Chart</a:t>
            </a:r>
            <a:endParaRPr lang="en-US" sz="2600" dirty="0"/>
          </a:p>
        </p:txBody>
      </p:sp>
      <p:pic>
        <p:nvPicPr>
          <p:cNvPr id="5" name="Image 0" descr="preencoded.png">    </p:cNvPr>
          <p:cNvPicPr>
            <a:picLocks noChangeAspect="1"/>
          </p:cNvPicPr>
          <p:nvPr/>
        </p:nvPicPr>
        <p:blipFill>
          <a:blip r:embed="rId1"/>
          <a:stretch>
            <a:fillRect/>
          </a:stretch>
        </p:blipFill>
        <p:spPr>
          <a:xfrm>
            <a:off x="365760" y="1417320"/>
            <a:ext cx="5486400" cy="3200400"/>
          </a:xfrm>
          <a:prstGeom prst="rect">
            <a:avLst/>
          </a:prstGeom>
        </p:spPr>
      </p:pic>
      <p:sp>
        <p:nvSpPr>
          <p:cNvPr id="6" name="Shape 3"/>
          <p:cNvSpPr/>
          <p:nvPr/>
        </p:nvSpPr>
        <p:spPr>
          <a:xfrm>
            <a:off x="5989320" y="1417320"/>
            <a:ext cx="2743200" cy="3200400"/>
          </a:xfrm>
          <a:prstGeom prst="roundRect">
            <a:avLst>
              <a:gd name="adj" fmla="val 3333"/>
            </a:avLst>
          </a:prstGeom>
          <a:solidFill>
            <a:srgbClr val="FFFFFF"/>
          </a:solidFill>
          <a:ln w="12700">
            <a:solidFill>
              <a:srgbClr val="E0E0E0"/>
            </a:solidFill>
            <a:prstDash val="solid"/>
          </a:ln>
          <a:effectLst>
            <a:outerShdw sx="100000" sy="100000" kx="0" ky="0" algn="bl" rotWithShape="0" blurRad="101600" dist="38100" dir="2700000">
              <a:srgbClr val="000000">
                <a:alpha val="12000"/>
              </a:srgbClr>
            </a:outerShdw>
          </a:effectLst>
        </p:spPr>
      </p:sp>
      <p:sp>
        <p:nvSpPr>
          <p:cNvPr id="7" name="Text 4"/>
          <p:cNvSpPr/>
          <p:nvPr/>
        </p:nvSpPr>
        <p:spPr>
          <a:xfrm>
            <a:off x="6126480" y="1536192"/>
            <a:ext cx="2468880" cy="384048"/>
          </a:xfrm>
          <a:prstGeom prst="rect">
            <a:avLst/>
          </a:prstGeom>
          <a:noFill/>
          <a:ln/>
        </p:spPr>
        <p:txBody>
          <a:bodyPr wrap="square" rtlCol="0" anchor="ctr"/>
          <a:lstStyle/>
          <a:p>
            <a:pPr indent="0" marL="0">
              <a:buNone/>
            </a:pPr>
            <a:r>
              <a:rPr lang="en-US" sz="1500" b="1" dirty="0">
                <a:solidFill>
                  <a:srgbClr val="7C3AED"/>
                </a:solidFill>
                <a:latin typeface="Calibri" pitchFamily="34" charset="0"/>
                <a:ea typeface="Calibri" pitchFamily="34" charset="-122"/>
                <a:cs typeface="Calibri" pitchFamily="34" charset="-120"/>
              </a:rPr>
              <a:t>The Trick</a:t>
            </a:r>
            <a:endParaRPr lang="en-US" sz="1500" dirty="0"/>
          </a:p>
        </p:txBody>
      </p:sp>
      <p:sp>
        <p:nvSpPr>
          <p:cNvPr id="8" name="Text 5"/>
          <p:cNvSpPr/>
          <p:nvPr/>
        </p:nvSpPr>
        <p:spPr>
          <a:xfrm>
            <a:off x="6126480" y="1993392"/>
            <a:ext cx="2468880" cy="2514600"/>
          </a:xfrm>
          <a:prstGeom prst="rect">
            <a:avLst/>
          </a:prstGeom>
          <a:noFill/>
          <a:ln/>
        </p:spPr>
        <p:txBody>
          <a:bodyPr wrap="square" rtlCol="0" anchor="t"/>
          <a:lstStyle/>
          <a:p>
            <a:pPr indent="0" marL="0">
              <a:buNone/>
            </a:pPr>
            <a:r>
              <a:rPr lang="en-US" sz="1000" b="1" dirty="0">
                <a:solidFill>
                  <a:srgbClr val="1A1A2E"/>
                </a:solidFill>
              </a:rPr>
              <a:t>Y-axis starts at 700, not 0.</a:t>
            </a:r>
            <a:pPr indent="0" marL="0">
              <a:buNone/>
            </a:pPr>
            <a:r>
              <a:rPr lang="en-US" sz="1000" dirty="0">
                <a:solidFill>
                  <a:srgbClr val="1A1A2E"/>
                </a:solidFill>
              </a:rPr>
              <a:t> </a:t>
            </a:r>
            <a:endParaRPr lang="en-US" sz="1000" dirty="0"/>
          </a:p>
          <a:p>
            <a:pPr indent="0" marL="0">
              <a:buNone/>
            </a:pPr>
            <a:r>
              <a:rPr lang="en-US" sz="1000" b="1" dirty="0">
                <a:solidFill>
                  <a:srgbClr val="1A1A2E"/>
                </a:solidFill>
              </a:rPr>
              <a:t>Reality:</a:t>
            </a:r>
            <a:pPr indent="0" marL="0">
              <a:buNone/>
            </a:pPr>
            <a:r>
              <a:rPr lang="en-US" sz="1000" dirty="0">
                <a:solidFill>
                  <a:srgbClr val="1A1A2E"/>
                </a:solidFill>
              </a:rPr>
              <a:t> USA has 3,210 titles -- 3x more than India's 1,008.</a:t>
            </a:r>
            <a:pPr indent="0" marL="0">
              <a:buNone/>
            </a:pPr>
            <a:r>
              <a:rPr lang="en-US" sz="1000" dirty="0">
                <a:solidFill>
                  <a:srgbClr val="1A1A2E"/>
                </a:solidFill>
              </a:rPr>
              <a:t> </a:t>
            </a:r>
            <a:endParaRPr lang="en-US" sz="1000" dirty="0"/>
          </a:p>
          <a:p>
            <a:pPr indent="0" marL="0">
              <a:buNone/>
            </a:pPr>
            <a:r>
              <a:rPr lang="en-US" sz="1000" b="1" dirty="0">
                <a:solidFill>
                  <a:srgbClr val="E50914"/>
                </a:solidFill>
              </a:rPr>
              <a:t>Perception:</a:t>
            </a:r>
            <a:pPr indent="0" marL="0">
              <a:buNone/>
            </a:pPr>
            <a:r>
              <a:rPr lang="en-US" sz="1000" dirty="0">
                <a:solidFill>
                  <a:srgbClr val="1A1A2E"/>
                </a:solidFill>
              </a:rPr>
              <a:t> bars look nearly equal in height.</a:t>
            </a:r>
            <a:pPr indent="0" marL="0">
              <a:buNone/>
            </a:pPr>
            <a:r>
              <a:rPr lang="en-US" sz="1000" dirty="0">
                <a:solidFill>
                  <a:srgbClr val="1A1A2E"/>
                </a:solidFill>
              </a:rPr>
              <a:t> </a:t>
            </a:r>
            <a:endParaRPr lang="en-US" sz="1000" dirty="0"/>
          </a:p>
          <a:p>
            <a:pPr indent="0" marL="0">
              <a:buNone/>
            </a:pPr>
            <a:r>
              <a:rPr lang="en-US" sz="1000" b="1" dirty="0">
                <a:solidFill>
                  <a:srgbClr val="7C3AED"/>
                </a:solidFill>
              </a:rPr>
              <a:t>Why it works:</a:t>
            </a:r>
            <a:pPr indent="0" marL="0">
              <a:buNone/>
            </a:pPr>
            <a:r>
              <a:rPr lang="en-US" sz="1000" dirty="0">
                <a:solidFill>
                  <a:srgbClr val="1A1A2E"/>
                </a:solidFill>
              </a:rPr>
              <a:t> viewers judge bars by height. Cutting the baseline hides the true 3:1 ratio.</a:t>
            </a:r>
            <a:pPr indent="0" marL="0">
              <a:buNone/>
            </a:pPr>
            <a:r>
              <a:rPr lang="en-US" sz="1000" dirty="0">
                <a:solidFill>
                  <a:srgbClr val="1A1A2E"/>
                </a:solidFill>
              </a:rPr>
              <a:t> </a:t>
            </a:r>
            <a:endParaRPr lang="en-US" sz="1000" dirty="0"/>
          </a:p>
          <a:p>
            <a:pPr indent="0" marL="0">
              <a:buNone/>
            </a:pPr>
            <a:r>
              <a:rPr lang="en-US" sz="1000" b="1" dirty="0">
                <a:solidFill>
                  <a:srgbClr val="22A559"/>
                </a:solidFill>
              </a:rPr>
              <a:t>Fix:</a:t>
            </a:r>
            <a:pPr indent="0" marL="0">
              <a:buNone/>
            </a:pPr>
            <a:r>
              <a:rPr lang="en-US" sz="1000" dirty="0">
                <a:solidFill>
                  <a:srgbClr val="1A1A2E"/>
                </a:solidFill>
              </a:rPr>
              <a:t> start the y-axis at 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50914"/>
          </a:solidFill>
          <a:ln w="12700">
            <a:solidFill>
              <a:srgbClr val="E50914"/>
            </a:solidFill>
            <a:prstDash val="solid"/>
          </a:ln>
        </p:spPr>
      </p:sp>
      <p:sp>
        <p:nvSpPr>
          <p:cNvPr id="3" name="Text 1"/>
          <p:cNvSpPr/>
          <p:nvPr/>
        </p:nvSpPr>
        <p:spPr>
          <a:xfrm>
            <a:off x="548640" y="274320"/>
            <a:ext cx="8046720" cy="6400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4" name="Shape 2"/>
          <p:cNvSpPr/>
          <p:nvPr/>
        </p:nvSpPr>
        <p:spPr>
          <a:xfrm>
            <a:off x="457200" y="1005840"/>
            <a:ext cx="4023360" cy="1719072"/>
          </a:xfrm>
          <a:prstGeom prst="roundRect">
            <a:avLst>
              <a:gd name="adj" fmla="val 5319"/>
            </a:avLst>
          </a:prstGeom>
          <a:solidFill>
            <a:srgbClr val="252540"/>
          </a:solidFill>
          <a:ln w="12700">
            <a:solidFill>
              <a:srgbClr val="3A3A60"/>
            </a:solidFill>
            <a:prstDash val="solid"/>
          </a:ln>
        </p:spPr>
      </p:sp>
      <p:sp>
        <p:nvSpPr>
          <p:cNvPr id="5" name="Text 3"/>
          <p:cNvSpPr/>
          <p:nvPr/>
        </p:nvSpPr>
        <p:spPr>
          <a:xfrm>
            <a:off x="640080" y="1133856"/>
            <a:ext cx="640080" cy="475488"/>
          </a:xfrm>
          <a:prstGeom prst="rect">
            <a:avLst/>
          </a:prstGeom>
          <a:noFill/>
          <a:ln/>
        </p:spPr>
        <p:txBody>
          <a:bodyPr wrap="square" rtlCol="0" anchor="ctr"/>
          <a:lstStyle/>
          <a:p>
            <a:pPr algn="l" indent="0" marL="0">
              <a:buNone/>
            </a:pPr>
            <a:r>
              <a:rPr lang="en-US" sz="2200" b="1" dirty="0">
                <a:solidFill>
                  <a:srgbClr val="E50914"/>
                </a:solidFill>
                <a:latin typeface="Calibri" pitchFamily="34" charset="0"/>
                <a:ea typeface="Calibri" pitchFamily="34" charset="-122"/>
                <a:cs typeface="Calibri" pitchFamily="34" charset="-120"/>
              </a:rPr>
              <a:t>01</a:t>
            </a:r>
            <a:endParaRPr lang="en-US" sz="2200" dirty="0"/>
          </a:p>
        </p:txBody>
      </p:sp>
      <p:sp>
        <p:nvSpPr>
          <p:cNvPr id="6" name="Text 4"/>
          <p:cNvSpPr/>
          <p:nvPr/>
        </p:nvSpPr>
        <p:spPr>
          <a:xfrm>
            <a:off x="640080" y="1572768"/>
            <a:ext cx="3657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Movies dominate</a:t>
            </a:r>
            <a:endParaRPr lang="en-US" sz="1300" dirty="0"/>
          </a:p>
        </p:txBody>
      </p:sp>
      <p:sp>
        <p:nvSpPr>
          <p:cNvPr id="7" name="Text 5"/>
          <p:cNvSpPr/>
          <p:nvPr/>
        </p:nvSpPr>
        <p:spPr>
          <a:xfrm>
            <a:off x="640080" y="1938528"/>
            <a:ext cx="3657600" cy="658368"/>
          </a:xfrm>
          <a:prstGeom prst="rect">
            <a:avLst/>
          </a:prstGeom>
          <a:noFill/>
          <a:ln/>
        </p:spPr>
        <p:txBody>
          <a:bodyPr wrap="square" rtlCol="0" anchor="ctr"/>
          <a:lstStyle/>
          <a:p>
            <a:pPr indent="0" marL="0">
              <a:buNone/>
            </a:pPr>
            <a:r>
              <a:rPr lang="en-US" sz="1050" dirty="0">
                <a:solidFill>
                  <a:srgbClr val="E8E8E8"/>
                </a:solidFill>
                <a:latin typeface="Calibri" pitchFamily="34" charset="0"/>
                <a:ea typeface="Calibri" pitchFamily="34" charset="-122"/>
                <a:cs typeface="Calibri" pitchFamily="34" charset="-120"/>
              </a:rPr>
              <a:t>Netflix is 70% movies -- the platform is still primarily a film catalog.</a:t>
            </a:r>
            <a:endParaRPr lang="en-US" sz="1050" dirty="0"/>
          </a:p>
        </p:txBody>
      </p:sp>
      <p:sp>
        <p:nvSpPr>
          <p:cNvPr id="8" name="Shape 6"/>
          <p:cNvSpPr/>
          <p:nvPr/>
        </p:nvSpPr>
        <p:spPr>
          <a:xfrm>
            <a:off x="4800600" y="1005840"/>
            <a:ext cx="4023360" cy="1719072"/>
          </a:xfrm>
          <a:prstGeom prst="roundRect">
            <a:avLst>
              <a:gd name="adj" fmla="val 5319"/>
            </a:avLst>
          </a:prstGeom>
          <a:solidFill>
            <a:srgbClr val="252540"/>
          </a:solidFill>
          <a:ln w="12700">
            <a:solidFill>
              <a:srgbClr val="3A3A60"/>
            </a:solidFill>
            <a:prstDash val="solid"/>
          </a:ln>
        </p:spPr>
      </p:sp>
      <p:sp>
        <p:nvSpPr>
          <p:cNvPr id="9" name="Text 7"/>
          <p:cNvSpPr/>
          <p:nvPr/>
        </p:nvSpPr>
        <p:spPr>
          <a:xfrm>
            <a:off x="4983480" y="1133856"/>
            <a:ext cx="640080" cy="475488"/>
          </a:xfrm>
          <a:prstGeom prst="rect">
            <a:avLst/>
          </a:prstGeom>
          <a:noFill/>
          <a:ln/>
        </p:spPr>
        <p:txBody>
          <a:bodyPr wrap="square" rtlCol="0" anchor="ctr"/>
          <a:lstStyle/>
          <a:p>
            <a:pPr algn="l" indent="0" marL="0">
              <a:buNone/>
            </a:pPr>
            <a:r>
              <a:rPr lang="en-US" sz="2200" b="1" dirty="0">
                <a:solidFill>
                  <a:srgbClr val="E50914"/>
                </a:solidFill>
                <a:latin typeface="Calibri" pitchFamily="34" charset="0"/>
                <a:ea typeface="Calibri" pitchFamily="34" charset="-122"/>
                <a:cs typeface="Calibri" pitchFamily="34" charset="-120"/>
              </a:rPr>
              <a:t>02</a:t>
            </a:r>
            <a:endParaRPr lang="en-US" sz="2200" dirty="0"/>
          </a:p>
        </p:txBody>
      </p:sp>
      <p:sp>
        <p:nvSpPr>
          <p:cNvPr id="10" name="Text 8"/>
          <p:cNvSpPr/>
          <p:nvPr/>
        </p:nvSpPr>
        <p:spPr>
          <a:xfrm>
            <a:off x="4983480" y="1572768"/>
            <a:ext cx="3657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Rapid 2014-2019 growth</a:t>
            </a:r>
            <a:endParaRPr lang="en-US" sz="1300" dirty="0"/>
          </a:p>
        </p:txBody>
      </p:sp>
      <p:sp>
        <p:nvSpPr>
          <p:cNvPr id="11" name="Text 9"/>
          <p:cNvSpPr/>
          <p:nvPr/>
        </p:nvSpPr>
        <p:spPr>
          <a:xfrm>
            <a:off x="4983480" y="1938528"/>
            <a:ext cx="3657600" cy="658368"/>
          </a:xfrm>
          <a:prstGeom prst="rect">
            <a:avLst/>
          </a:prstGeom>
          <a:noFill/>
          <a:ln/>
        </p:spPr>
        <p:txBody>
          <a:bodyPr wrap="square" rtlCol="0" anchor="ctr"/>
          <a:lstStyle/>
          <a:p>
            <a:pPr indent="0" marL="0">
              <a:buNone/>
            </a:pPr>
            <a:r>
              <a:rPr lang="en-US" sz="1050" dirty="0">
                <a:solidFill>
                  <a:srgbClr val="E8E8E8"/>
                </a:solidFill>
                <a:latin typeface="Calibri" pitchFamily="34" charset="0"/>
                <a:ea typeface="Calibri" pitchFamily="34" charset="-122"/>
                <a:cs typeface="Calibri" pitchFamily="34" charset="-120"/>
              </a:rPr>
              <a:t>Content additions increased 100x in five years, driven by global expansion.</a:t>
            </a:r>
            <a:endParaRPr lang="en-US" sz="1050" dirty="0"/>
          </a:p>
        </p:txBody>
      </p:sp>
      <p:sp>
        <p:nvSpPr>
          <p:cNvPr id="12" name="Shape 10"/>
          <p:cNvSpPr/>
          <p:nvPr/>
        </p:nvSpPr>
        <p:spPr>
          <a:xfrm>
            <a:off x="457200" y="2926080"/>
            <a:ext cx="4023360" cy="1719072"/>
          </a:xfrm>
          <a:prstGeom prst="roundRect">
            <a:avLst>
              <a:gd name="adj" fmla="val 5319"/>
            </a:avLst>
          </a:prstGeom>
          <a:solidFill>
            <a:srgbClr val="252540"/>
          </a:solidFill>
          <a:ln w="12700">
            <a:solidFill>
              <a:srgbClr val="3A3A60"/>
            </a:solidFill>
            <a:prstDash val="solid"/>
          </a:ln>
        </p:spPr>
      </p:sp>
      <p:sp>
        <p:nvSpPr>
          <p:cNvPr id="13" name="Text 11"/>
          <p:cNvSpPr/>
          <p:nvPr/>
        </p:nvSpPr>
        <p:spPr>
          <a:xfrm>
            <a:off x="640080" y="3054096"/>
            <a:ext cx="640080" cy="475488"/>
          </a:xfrm>
          <a:prstGeom prst="rect">
            <a:avLst/>
          </a:prstGeom>
          <a:noFill/>
          <a:ln/>
        </p:spPr>
        <p:txBody>
          <a:bodyPr wrap="square" rtlCol="0" anchor="ctr"/>
          <a:lstStyle/>
          <a:p>
            <a:pPr algn="l" indent="0" marL="0">
              <a:buNone/>
            </a:pPr>
            <a:r>
              <a:rPr lang="en-US" sz="2200" b="1" dirty="0">
                <a:solidFill>
                  <a:srgbClr val="E50914"/>
                </a:solidFill>
                <a:latin typeface="Calibri" pitchFamily="34" charset="0"/>
                <a:ea typeface="Calibri" pitchFamily="34" charset="-122"/>
                <a:cs typeface="Calibri" pitchFamily="34" charset="-120"/>
              </a:rPr>
              <a:t>03</a:t>
            </a:r>
            <a:endParaRPr lang="en-US" sz="2200" dirty="0"/>
          </a:p>
        </p:txBody>
      </p:sp>
      <p:sp>
        <p:nvSpPr>
          <p:cNvPr id="14" name="Text 12"/>
          <p:cNvSpPr/>
          <p:nvPr/>
        </p:nvSpPr>
        <p:spPr>
          <a:xfrm>
            <a:off x="640080" y="3493008"/>
            <a:ext cx="3657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Genre follows medium</a:t>
            </a:r>
            <a:endParaRPr lang="en-US" sz="1300" dirty="0"/>
          </a:p>
        </p:txBody>
      </p:sp>
      <p:sp>
        <p:nvSpPr>
          <p:cNvPr id="15" name="Text 13"/>
          <p:cNvSpPr/>
          <p:nvPr/>
        </p:nvSpPr>
        <p:spPr>
          <a:xfrm>
            <a:off x="640080" y="3858768"/>
            <a:ext cx="3657600" cy="658368"/>
          </a:xfrm>
          <a:prstGeom prst="rect">
            <a:avLst/>
          </a:prstGeom>
          <a:noFill/>
          <a:ln/>
        </p:spPr>
        <p:txBody>
          <a:bodyPr wrap="square" rtlCol="0" anchor="ctr"/>
          <a:lstStyle/>
          <a:p>
            <a:pPr indent="0" marL="0">
              <a:buNone/>
            </a:pPr>
            <a:r>
              <a:rPr lang="en-US" sz="1050" dirty="0">
                <a:solidFill>
                  <a:srgbClr val="E8E8E8"/>
                </a:solidFill>
                <a:latin typeface="Calibri" pitchFamily="34" charset="0"/>
                <a:ea typeface="Calibri" pitchFamily="34" charset="-122"/>
                <a:cs typeface="Calibri" pitchFamily="34" charset="-120"/>
              </a:rPr>
              <a:t>Crime and Reality TV are TV-only; Stand-Up and Horror lean movie-heavy.</a:t>
            </a:r>
            <a:endParaRPr lang="en-US" sz="1050" dirty="0"/>
          </a:p>
        </p:txBody>
      </p:sp>
      <p:sp>
        <p:nvSpPr>
          <p:cNvPr id="16" name="Shape 14"/>
          <p:cNvSpPr/>
          <p:nvPr/>
        </p:nvSpPr>
        <p:spPr>
          <a:xfrm>
            <a:off x="4800600" y="2926080"/>
            <a:ext cx="4023360" cy="1719072"/>
          </a:xfrm>
          <a:prstGeom prst="roundRect">
            <a:avLst>
              <a:gd name="adj" fmla="val 5319"/>
            </a:avLst>
          </a:prstGeom>
          <a:solidFill>
            <a:srgbClr val="252540"/>
          </a:solidFill>
          <a:ln w="12700">
            <a:solidFill>
              <a:srgbClr val="3A3A60"/>
            </a:solidFill>
            <a:prstDash val="solid"/>
          </a:ln>
        </p:spPr>
      </p:sp>
      <p:sp>
        <p:nvSpPr>
          <p:cNvPr id="17" name="Text 15"/>
          <p:cNvSpPr/>
          <p:nvPr/>
        </p:nvSpPr>
        <p:spPr>
          <a:xfrm>
            <a:off x="4983480" y="3054096"/>
            <a:ext cx="640080" cy="475488"/>
          </a:xfrm>
          <a:prstGeom prst="rect">
            <a:avLst/>
          </a:prstGeom>
          <a:noFill/>
          <a:ln/>
        </p:spPr>
        <p:txBody>
          <a:bodyPr wrap="square" rtlCol="0" anchor="ctr"/>
          <a:lstStyle/>
          <a:p>
            <a:pPr algn="l" indent="0" marL="0">
              <a:buNone/>
            </a:pPr>
            <a:r>
              <a:rPr lang="en-US" sz="2200" b="1" dirty="0">
                <a:solidFill>
                  <a:srgbClr val="E50914"/>
                </a:solidFill>
                <a:latin typeface="Calibri" pitchFamily="34" charset="0"/>
                <a:ea typeface="Calibri" pitchFamily="34" charset="-122"/>
                <a:cs typeface="Calibri" pitchFamily="34" charset="-120"/>
              </a:rPr>
              <a:t>04</a:t>
            </a:r>
            <a:endParaRPr lang="en-US" sz="2200" dirty="0"/>
          </a:p>
        </p:txBody>
      </p:sp>
      <p:sp>
        <p:nvSpPr>
          <p:cNvPr id="18" name="Text 16"/>
          <p:cNvSpPr/>
          <p:nvPr/>
        </p:nvSpPr>
        <p:spPr>
          <a:xfrm>
            <a:off x="4983480" y="3493008"/>
            <a:ext cx="3657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Geography shapes format</a:t>
            </a:r>
            <a:endParaRPr lang="en-US" sz="1300" dirty="0"/>
          </a:p>
        </p:txBody>
      </p:sp>
      <p:sp>
        <p:nvSpPr>
          <p:cNvPr id="19" name="Text 17"/>
          <p:cNvSpPr/>
          <p:nvPr/>
        </p:nvSpPr>
        <p:spPr>
          <a:xfrm>
            <a:off x="4983480" y="3858768"/>
            <a:ext cx="3657600" cy="658368"/>
          </a:xfrm>
          <a:prstGeom prst="rect">
            <a:avLst/>
          </a:prstGeom>
          <a:noFill/>
          <a:ln/>
        </p:spPr>
        <p:txBody>
          <a:bodyPr wrap="square" rtlCol="0" anchor="ctr"/>
          <a:lstStyle/>
          <a:p>
            <a:pPr indent="0" marL="0">
              <a:buNone/>
            </a:pPr>
            <a:r>
              <a:rPr lang="en-US" sz="1050" dirty="0">
                <a:solidFill>
                  <a:srgbClr val="E8E8E8"/>
                </a:solidFill>
                <a:latin typeface="Calibri" pitchFamily="34" charset="0"/>
                <a:ea typeface="Calibri" pitchFamily="34" charset="-122"/>
                <a:cs typeface="Calibri" pitchFamily="34" charset="-120"/>
              </a:rPr>
              <a:t>South Korea &amp; Japan are TV-dominant; India &amp; USA are movie-dominant -- and both are shifting toward more TV post-2019.</a:t>
            </a:r>
            <a:endParaRPr lang="en-US" sz="1050" dirty="0"/>
          </a:p>
        </p:txBody>
      </p:sp>
      <p:sp>
        <p:nvSpPr>
          <p:cNvPr id="20" name="Shape 18"/>
          <p:cNvSpPr/>
          <p:nvPr/>
        </p:nvSpPr>
        <p:spPr>
          <a:xfrm>
            <a:off x="0" y="5079492"/>
            <a:ext cx="9144000" cy="64008"/>
          </a:xfrm>
          <a:prstGeom prst="rect">
            <a:avLst/>
          </a:prstGeom>
          <a:solidFill>
            <a:srgbClr val="E50914"/>
          </a:solidFill>
          <a:ln w="12700">
            <a:solidFill>
              <a:srgbClr val="E5091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Content Analysis -- Powerpuff Girls</dc:title>
  <dc:subject>PptxGenJS Presentation</dc:subject>
  <dc:creator>PptxGenJS</dc:creator>
  <cp:lastModifiedBy>PptxGenJS</cp:lastModifiedBy>
  <cp:revision>1</cp:revision>
  <dcterms:created xsi:type="dcterms:W3CDTF">2026-06-21T21:22:55Z</dcterms:created>
  <dcterms:modified xsi:type="dcterms:W3CDTF">2026-06-21T21:22:55Z</dcterms:modified>
</cp:coreProperties>
</file>